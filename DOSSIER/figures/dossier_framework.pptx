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.svg" ContentType="image/svg+xml"/>
  <Override PartName="/ppt/media/image10.svg" ContentType="image/svg+xml"/>
  <Override PartName="/ppt/media/image11.svg" ContentType="image/svg+xml"/>
  <Override PartName="/ppt/media/image12.svg" ContentType="image/svg+xml"/>
  <Override PartName="/ppt/media/image13.svg" ContentType="image/svg+xml"/>
  <Override PartName="/ppt/media/image14.svg" ContentType="image/svg+xml"/>
  <Override PartName="/ppt/media/image15.svg" ContentType="image/svg+xml"/>
  <Override PartName="/ppt/media/image16.svg" ContentType="image/svg+xml"/>
  <Override PartName="/ppt/media/image17.svg" ContentType="image/svg+xml"/>
  <Override PartName="/ppt/media/image19.svg" ContentType="image/svg+xml"/>
  <Override PartName="/ppt/media/image2.svg" ContentType="image/svg+xml"/>
  <Override PartName="/ppt/media/image20.svg" ContentType="image/svg+xml"/>
  <Override PartName="/ppt/media/image21.svg" ContentType="image/svg+xml"/>
  <Override PartName="/ppt/media/image22.svg" ContentType="image/svg+xml"/>
  <Override PartName="/ppt/media/image23.svg" ContentType="image/svg+xml"/>
  <Override PartName="/ppt/media/image24.svg" ContentType="image/svg+xml"/>
  <Override PartName="/ppt/media/image25.svg" ContentType="image/svg+xml"/>
  <Override PartName="/ppt/media/image26.svg" ContentType="image/svg+xml"/>
  <Override PartName="/ppt/media/image27.svg" ContentType="image/svg+xml"/>
  <Override PartName="/ppt/media/image28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media/image8.svg" ContentType="image/svg+xml"/>
  <Override PartName="/ppt/media/image9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4630400" cy="9509125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5B8EA"/>
    <a:srgbClr val="C49CFA"/>
    <a:srgbClr val="CC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711" autoAdjust="0"/>
    <p:restoredTop sz="94660"/>
  </p:normalViewPr>
  <p:slideViewPr>
    <p:cSldViewPr snapToGrid="0">
      <p:cViewPr varScale="1">
        <p:scale>
          <a:sx n="45" d="100"/>
          <a:sy n="45" d="100"/>
        </p:scale>
        <p:origin x="132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118B1-5E13-31F4-B334-6ECA2DB370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F83E23-7F49-ED6E-2905-674EB7DA2E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2E444A-1A63-CF58-BD6C-789F08799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5D2A3-C0B9-41E2-AD0D-8F9D777B71E0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63F287-DF47-39F8-0516-94D650DA7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0BBB6D-AF58-EB92-53B6-46476D580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C9DF27-4826-442C-B7DE-409958FEE4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350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4016E3-3809-3743-54B4-6D0385C90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5258A8-F001-437A-6EE9-A53A0A39C5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7A5C47-3244-F6C2-A452-0330DD9A9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5D2A3-C0B9-41E2-AD0D-8F9D777B71E0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CA19C6-C9DF-A1E9-5345-B313381E43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39EC75-E17A-00AD-14A8-6C27F5C2F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C9DF27-4826-442C-B7DE-409958FEE4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56898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C807E-BF16-1B12-4BA8-77D92E7690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DF846F-D41D-5328-D285-BD122D3FF9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7E8B5A-703D-3114-C89C-B5BBD638F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5D2A3-C0B9-41E2-AD0D-8F9D777B71E0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A0CFEC-C156-AF97-16C1-18996E1EF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F2AA09-A50C-ADF5-0522-90753FCD0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C9DF27-4826-442C-B7DE-409958FEE4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54255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23269-FB62-8937-DDA8-3D8636C022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2B4283-BE85-DD8E-021F-3E64DE4FDF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7F7CD6-BD3D-5F37-5DA4-677CADA480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8CA58F-E9EF-E3F6-290A-792E6AADB0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5D2A3-C0B9-41E2-AD0D-8F9D777B71E0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5398BF-CD68-6269-38F8-9147560258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771B1D-A083-51C5-1572-C24732B1F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C9DF27-4826-442C-B7DE-409958FEE4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4519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26101-9E61-BE66-9CA4-095B990072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BE7B46-D463-5386-D571-4BDFA2DE50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587028-741A-AEFB-17F9-E92406C6EC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320A1F-91FB-53DD-7F8C-D779DC3795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8039B3-E63D-0957-29A7-0C6DEE89A1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D4F25FC-79D5-F2D7-C9B1-BCA8B9C73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5D2A3-C0B9-41E2-AD0D-8F9D777B71E0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A638986-1603-1C45-95E0-F0C0774B6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FE6AE1-7195-AE19-B6B5-9B33841B8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C9DF27-4826-442C-B7DE-409958FEE4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2494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94CED-FBB7-0D71-8039-E5E9FA590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8DCEDC-CAA5-A356-3DF6-68A57CF104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5D2A3-C0B9-41E2-AD0D-8F9D777B71E0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7D7BFC-34CC-E738-5FBE-F92BBE92A4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665597-7E0B-CEB4-11E0-08109EF30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C9DF27-4826-442C-B7DE-409958FEE4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0800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F9E019F-EFF8-1743-56D7-15C4E6DEAA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5D2A3-C0B9-41E2-AD0D-8F9D777B71E0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71A562-6F9A-33C2-4899-7FD2D4197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471014-562E-B09F-6ACF-E6F88D3D5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C9DF27-4826-442C-B7DE-409958FEE4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5200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CDE33-291C-7DB6-BC4A-195289A957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F52443-0F86-10CF-AD9C-1E0F196D84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5CA680-AA6D-5565-1A68-EE04446893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08351F-C702-20FE-609E-19EF63DCB7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5D2A3-C0B9-41E2-AD0D-8F9D777B71E0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9E2BAA-BEC4-E7F0-89FC-922E67791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CE4152-19BF-A3C1-EB74-05494D694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C9DF27-4826-442C-B7DE-409958FEE4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08970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E25395-B718-E30B-0461-CEF312C77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5546CB0-28C3-0494-94FB-D15D8AF744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344F4C-C649-412E-C645-E093BDAA8B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0C3BD0-2464-956F-3D89-C2DD1E7C0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5D2A3-C0B9-41E2-AD0D-8F9D777B71E0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7D5B27-0B0C-1842-7922-56A24118E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F34FE8-5A75-21D0-29E4-7D99E3A15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C9DF27-4826-442C-B7DE-409958FEE4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1308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FDE00-17E0-2FC8-A604-FA53EDFEC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C0CC94-CD4C-D0FF-0C83-4E0416BAC3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8BFE46-DC09-FEA9-F663-FFE600EBC0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5D2A3-C0B9-41E2-AD0D-8F9D777B71E0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3E75C1-134F-4F5E-15FC-83D786FD04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E23FDB-C5F8-022D-5D54-ABAB6C2A6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C9DF27-4826-442C-B7DE-409958FEE4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24357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A4C13E0-F3DD-2D69-8D90-A62E77C833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471EE3-ED14-AFEE-35D9-79207C05D3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134F40-6F10-82AF-13C3-EC1A1E47DE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5D2A3-C0B9-41E2-AD0D-8F9D777B71E0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34EE87-5221-3292-C33B-43A0B008F7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9C5317-AB83-3F70-3395-7FD1251F1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C9DF27-4826-442C-B7DE-409958FEE4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0749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EEE85F-E6AE-5447-1868-B87A3B27C7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EFCFE0-F08C-7558-A38A-020DEC8AB1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503E77-4F59-3712-ACFB-175E7FF40F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C5D2A3-C0B9-41E2-AD0D-8F9D777B71E0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807AEC-C7CC-12C6-1B19-5700EB9D30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EE24B8-01A4-BFC4-8B48-553EFB44AD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C9DF27-4826-442C-B7DE-409958FEE4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26758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svg"/><Relationship Id="rId3" Type="http://schemas.openxmlformats.org/officeDocument/2006/relationships/image" Target="../media/image2.svg"/><Relationship Id="rId4" Type="http://schemas.openxmlformats.org/officeDocument/2006/relationships/image" Target="../media/image3.svg"/><Relationship Id="rId5" Type="http://schemas.openxmlformats.org/officeDocument/2006/relationships/image" Target="../media/image4.svg"/><Relationship Id="rId6" Type="http://schemas.openxmlformats.org/officeDocument/2006/relationships/image" Target="../media/image5.svg"/><Relationship Id="rId7" Type="http://schemas.openxmlformats.org/officeDocument/2006/relationships/image" Target="../media/image6.svg"/><Relationship Id="rId8" Type="http://schemas.openxmlformats.org/officeDocument/2006/relationships/image" Target="../media/image7.svg"/><Relationship Id="rId9" Type="http://schemas.openxmlformats.org/officeDocument/2006/relationships/image" Target="../media/image8.svg"/><Relationship Id="rId10" Type="http://schemas.openxmlformats.org/officeDocument/2006/relationships/image" Target="../media/image9.svg"/><Relationship Id="rId11" Type="http://schemas.openxmlformats.org/officeDocument/2006/relationships/image" Target="../media/image10.svg"/><Relationship Id="rId12" Type="http://schemas.openxmlformats.org/officeDocument/2006/relationships/image" Target="../media/image11.svg"/><Relationship Id="rId13" Type="http://schemas.openxmlformats.org/officeDocument/2006/relationships/image" Target="../media/image12.svg"/><Relationship Id="rId14" Type="http://schemas.openxmlformats.org/officeDocument/2006/relationships/image" Target="../media/image13.svg"/><Relationship Id="rId15" Type="http://schemas.openxmlformats.org/officeDocument/2006/relationships/image" Target="../media/image14.svg"/><Relationship Id="rId16" Type="http://schemas.openxmlformats.org/officeDocument/2006/relationships/image" Target="../media/image15.svg"/><Relationship Id="rId17" Type="http://schemas.openxmlformats.org/officeDocument/2006/relationships/image" Target="../media/image16.svg"/><Relationship Id="rId18" Type="http://schemas.openxmlformats.org/officeDocument/2006/relationships/image" Target="../media/image17.svg"/><Relationship Id="rId19" Type="http://schemas.openxmlformats.org/officeDocument/2006/relationships/image" Target="../media/image18.png"/><Relationship Id="rId20" Type="http://schemas.openxmlformats.org/officeDocument/2006/relationships/image" Target="../media/image19.svg"/><Relationship Id="rId21" Type="http://schemas.openxmlformats.org/officeDocument/2006/relationships/image" Target="../media/image20.svg"/><Relationship Id="rId22" Type="http://schemas.openxmlformats.org/officeDocument/2006/relationships/image" Target="../media/image21.svg"/><Relationship Id="rId23" Type="http://schemas.openxmlformats.org/officeDocument/2006/relationships/image" Target="../media/image22.svg"/><Relationship Id="rId24" Type="http://schemas.openxmlformats.org/officeDocument/2006/relationships/image" Target="../media/image23.svg"/><Relationship Id="rId25" Type="http://schemas.openxmlformats.org/officeDocument/2006/relationships/image" Target="../media/image24.svg"/><Relationship Id="rId26" Type="http://schemas.openxmlformats.org/officeDocument/2006/relationships/image" Target="../media/image25.svg"/><Relationship Id="rId27" Type="http://schemas.openxmlformats.org/officeDocument/2006/relationships/image" Target="../media/image26.svg"/><Relationship Id="rId28" Type="http://schemas.openxmlformats.org/officeDocument/2006/relationships/image" Target="../media/image27.svg"/><Relationship Id="rId29" Type="http://schemas.openxmlformats.org/officeDocument/2006/relationships/image" Target="../media/image2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1" name="Stage frame"/>
          <p:cNvSpPr/>
          <p:nvPr/>
        </p:nvSpPr>
        <p:spPr>
          <a:xfrm>
            <a:off x="73152" y="36576"/>
            <a:ext cx="4672584" cy="9436608"/>
          </a:xfrm>
          <a:prstGeom prst="rect">
            <a:avLst/>
          </a:prstGeom>
          <a:noFill/>
          <a:ln w="12700">
            <a:solidFill>
              <a:schemeClr val="bg2">
                <a:lumMod val="50000"/>
              </a:schemeClr>
            </a:solidFill>
            <a:prstDash val="lgDash"/>
          </a:ln>
        </p:spPr>
        <p:txBody>
          <a:bodyPr/>
          <a:lstStyle/>
          <a:p>
            <a:endParaRPr lang="en-US"/>
          </a:p>
        </p:txBody>
      </p:sp>
      <p:sp>
        <p:nvSpPr>
          <p:cNvPr id="3002" name="Stage header"/>
          <p:cNvSpPr txBox="1"/>
          <p:nvPr/>
        </p:nvSpPr>
        <p:spPr>
          <a:xfrm>
            <a:off x="73152" y="73152"/>
            <a:ext cx="4727448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/>
            <a:r>
              <a:rPr lang="en-US" sz="1100" b="1" i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GRAPH-BASED DETECTION</a:t>
            </a:r>
          </a:p>
        </p:txBody>
      </p:sp>
      <p:sp>
        <p:nvSpPr>
          <p:cNvPr id="3003" name="Stage frame"/>
          <p:cNvSpPr/>
          <p:nvPr/>
        </p:nvSpPr>
        <p:spPr>
          <a:xfrm>
            <a:off x="4946904" y="36576"/>
            <a:ext cx="4489704" cy="9436608"/>
          </a:xfrm>
          <a:prstGeom prst="rect">
            <a:avLst/>
          </a:prstGeom>
          <a:noFill/>
          <a:ln w="12700">
            <a:solidFill>
              <a:schemeClr val="bg2">
                <a:lumMod val="50000"/>
              </a:schemeClr>
            </a:solidFill>
            <a:prstDash val="lgDash"/>
          </a:ln>
        </p:spPr>
        <p:txBody>
          <a:bodyPr/>
          <a:lstStyle/>
          <a:p>
            <a:endParaRPr lang="en-US"/>
          </a:p>
        </p:txBody>
      </p:sp>
      <p:sp>
        <p:nvSpPr>
          <p:cNvPr id="3004" name="Stage header"/>
          <p:cNvSpPr txBox="1"/>
          <p:nvPr/>
        </p:nvSpPr>
        <p:spPr>
          <a:xfrm>
            <a:off x="4873752" y="73152"/>
            <a:ext cx="4773168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/>
            <a:r>
              <a:rPr lang="en-US" sz="1100" b="1" i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RETRIEVAL-AUGMENTED EXPLANATION (RAG)</a:t>
            </a:r>
          </a:p>
        </p:txBody>
      </p:sp>
      <p:sp>
        <p:nvSpPr>
          <p:cNvPr id="3005" name="Stage frame"/>
          <p:cNvSpPr/>
          <p:nvPr/>
        </p:nvSpPr>
        <p:spPr>
          <a:xfrm>
            <a:off x="9720072" y="36576"/>
            <a:ext cx="4837176" cy="9436608"/>
          </a:xfrm>
          <a:prstGeom prst="rect">
            <a:avLst/>
          </a:prstGeom>
          <a:noFill/>
          <a:ln w="12700">
            <a:solidFill>
              <a:schemeClr val="bg2">
                <a:lumMod val="50000"/>
              </a:schemeClr>
            </a:solidFill>
            <a:prstDash val="lgDash"/>
          </a:ln>
        </p:spPr>
        <p:txBody>
          <a:bodyPr/>
          <a:lstStyle/>
          <a:p>
            <a:endParaRPr lang="en-US"/>
          </a:p>
        </p:txBody>
      </p:sp>
      <p:sp>
        <p:nvSpPr>
          <p:cNvPr id="3006" name="Stage header"/>
          <p:cNvSpPr txBox="1"/>
          <p:nvPr/>
        </p:nvSpPr>
        <p:spPr>
          <a:xfrm>
            <a:off x="9720072" y="73152"/>
            <a:ext cx="4837176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/>
            <a:r>
              <a:rPr lang="en-US" sz="1100" b="1" i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GROUNDING VERIFICATION</a:t>
            </a:r>
          </a:p>
        </p:txBody>
      </p:sp>
      <p:sp>
        <p:nvSpPr>
          <p:cNvPr id="3007" name="Network Flow Telemetry"/>
          <p:cNvSpPr/>
          <p:nvPr/>
        </p:nvSpPr>
        <p:spPr>
          <a:xfrm>
            <a:off x="914400" y="384048"/>
            <a:ext cx="3044952" cy="105156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accent1">
                <a:lumMod val="75000"/>
              </a:schemeClr>
            </a:solidFill>
          </a:ln>
        </p:spPr>
        <p:txBody>
          <a:bodyPr wrap="square" lIns="45720" tIns="45720" rIns="45720" bIns="45720" rtlCol="0" anchor="ctr">
            <a:noAutofit/>
          </a:bodyPr>
          <a:lstStyle/>
          <a:p>
            <a:pPr algn="ctr"/>
            <a:r>
              <a:rPr lang="en-US" sz="1800" b="1" i="0" dirty="0">
                <a:solidFill>
                  <a:schemeClr val="tx1"/>
                </a:solidFill>
              </a:rPr>
              <a:t>Network Flow Telemetry</a:t>
            </a:r>
          </a:p>
          <a:p>
            <a:pPr algn="ctr"/>
            <a:r>
              <a:rPr lang="en-US" sz="1300" b="1" i="0" dirty="0">
                <a:solidFill>
                  <a:schemeClr val="tx1"/>
                </a:solidFill>
              </a:rPr>
              <a:t>(IoT and Enterprise Captures)</a:t>
            </a:r>
          </a:p>
          <a:p>
            <a:pPr algn="ctr"/>
            <a:r>
              <a:rPr lang="en-US" sz="1200" b="1" i="0" dirty="0">
                <a:solidFill>
                  <a:schemeClr val="tx1"/>
                </a:solidFill>
              </a:rPr>
              <a:t>Raw flows → edge feature vectors</a:t>
            </a:r>
          </a:p>
        </p:txBody>
      </p:sp>
      <p:sp>
        <p:nvSpPr>
          <p:cNvPr id="3008" name="a"/>
          <p:cNvSpPr/>
          <p:nvPr/>
        </p:nvSpPr>
        <p:spPr>
          <a:xfrm>
            <a:off x="2432304" y="1435608"/>
            <a:ext cx="914" cy="210312"/>
          </a:xfrm>
          <a:custGeom>
            <a:avLst/>
            <a:gdLst/>
            <a:ahLst/>
            <a:cxnLst/>
            <a:rect l="0" t="0" r="r" b="b"/>
            <a:pathLst>
              <a:path w="914" h="210312" fill="none">
                <a:moveTo>
                  <a:pt x="0" y="0"/>
                </a:moveTo>
                <a:lnTo>
                  <a:pt x="0" y="210312"/>
                </a:lnTo>
              </a:path>
            </a:pathLst>
          </a:custGeom>
          <a:noFill/>
          <a:ln w="15875">
            <a:solidFill>
              <a:schemeClr val="accent1">
                <a:lumMod val="75000"/>
              </a:schemeClr>
            </a:solidFill>
            <a:rou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009" name="Communication Graph"/>
          <p:cNvSpPr/>
          <p:nvPr/>
        </p:nvSpPr>
        <p:spPr>
          <a:xfrm>
            <a:off x="182880" y="1645920"/>
            <a:ext cx="4507992" cy="141732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accent1">
                <a:lumMod val="75000"/>
              </a:schemeClr>
            </a:solidFill>
          </a:ln>
        </p:spPr>
        <p:txBody>
          <a:bodyPr wrap="square" lIns="54864" tIns="54864" rIns="54864" bIns="54864" rtlCol="0" anchor="t">
            <a:noAutofit/>
          </a:bodyPr>
          <a:lstStyle/>
          <a:p>
            <a:pPr algn="ctr"/>
            <a:r>
              <a:rPr lang="en-US" sz="1800" b="1" i="0" dirty="0">
                <a:solidFill>
                  <a:schemeClr val="tx1"/>
                </a:solidFill>
              </a:rPr>
              <a:t>Communication Graph</a:t>
            </a:r>
          </a:p>
        </p:txBody>
      </p:sp>
      <p:sp>
        <p:nvSpPr>
          <p:cNvPr id="3010" name="Step 1"/>
          <p:cNvSpPr/>
          <p:nvPr/>
        </p:nvSpPr>
        <p:spPr>
          <a:xfrm>
            <a:off x="4343400" y="1700784"/>
            <a:ext cx="265176" cy="246888"/>
          </a:xfrm>
          <a:prstGeom prst="ellipse">
            <a:avLst/>
          </a:prstGeom>
          <a:noFill/>
          <a:ln w="12700">
            <a:solidFill>
              <a:schemeClr val="accent1">
                <a:lumMod val="50000"/>
              </a:schemeClr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300" b="0" i="0" dirty="0">
                <a:solidFill>
                  <a:schemeClr val="tx1"/>
                </a:solidFill>
              </a:rPr>
              <a:t>1</a:t>
            </a:r>
          </a:p>
        </p:txBody>
      </p:sp>
      <p:pic>
        <p:nvPicPr>
          <p:cNvPr id="3011" name="Graphic 77" descr="Workflow RTL">
            <a:extLst>
              <a:ext uri="{FF2B5EF4-FFF2-40B4-BE49-F238E27FC236}">
                <a16:creationId xmlns:a16="http://schemas.microsoft.com/office/drawing/2014/main" id="{8B32397D-E819-FA79-3FFA-FE4A74A8D65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0040" y="2103120"/>
            <a:ext cx="347472" cy="347472"/>
          </a:xfrm>
          <a:prstGeom prst="rect">
            <a:avLst/>
          </a:prstGeom>
        </p:spPr>
      </p:pic>
      <p:sp>
        <p:nvSpPr>
          <p:cNvPr id="3012" name="detail"/>
          <p:cNvSpPr txBox="1"/>
          <p:nvPr/>
        </p:nvSpPr>
        <p:spPr>
          <a:xfrm>
            <a:off x="777240" y="2103120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/>
            <a:r>
              <a:rPr lang="en-US" sz="1300" b="1" i="0" dirty="0">
                <a:solidFill>
                  <a:schemeClr val="tx1"/>
                </a:solidFill>
              </a:rPr>
              <a:t>Nodes = IPv4 hosts  |  Edges = directed network flows</a:t>
            </a:r>
          </a:p>
        </p:txBody>
      </p:sp>
      <p:pic>
        <p:nvPicPr>
          <p:cNvPr id="3013" name="Graphic 91" descr="Connected">
            <a:extLst>
              <a:ext uri="{FF2B5EF4-FFF2-40B4-BE49-F238E27FC236}">
                <a16:creationId xmlns:a16="http://schemas.microsoft.com/office/drawing/2014/main" id="{049CE6DE-2F13-CD24-4CAE-679BA355332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0040" y="2578608"/>
            <a:ext cx="347472" cy="347472"/>
          </a:xfrm>
          <a:prstGeom prst="rect">
            <a:avLst/>
          </a:prstGeom>
        </p:spPr>
      </p:pic>
      <p:sp>
        <p:nvSpPr>
          <p:cNvPr id="3014" name="detail"/>
          <p:cNvSpPr txBox="1"/>
          <p:nvPr/>
        </p:nvSpPr>
        <p:spPr>
          <a:xfrm>
            <a:off x="777240" y="2578608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/>
            <a:r>
              <a:rPr lang="en-US" sz="1300" b="1" i="0" dirty="0">
                <a:solidFill>
                  <a:schemeClr val="tx1"/>
                </a:solidFill>
              </a:rPr>
              <a:t>Inductive split: message-passing edges = training only</a:t>
            </a:r>
          </a:p>
        </p:txBody>
      </p:sp>
      <p:sp>
        <p:nvSpPr>
          <p:cNvPr id="3015" name="a"/>
          <p:cNvSpPr/>
          <p:nvPr/>
        </p:nvSpPr>
        <p:spPr>
          <a:xfrm>
            <a:off x="2432304" y="3063240"/>
            <a:ext cx="914" cy="210312"/>
          </a:xfrm>
          <a:custGeom>
            <a:avLst/>
            <a:gdLst/>
            <a:ahLst/>
            <a:cxnLst/>
            <a:rect l="0" t="0" r="r" b="b"/>
            <a:pathLst>
              <a:path w="914" h="210312" fill="none">
                <a:moveTo>
                  <a:pt x="0" y="0"/>
                </a:moveTo>
                <a:lnTo>
                  <a:pt x="0" y="210312"/>
                </a:lnTo>
              </a:path>
            </a:pathLst>
          </a:custGeom>
          <a:noFill/>
          <a:ln w="15875">
            <a:solidFill>
              <a:schemeClr val="accent4">
                <a:lumMod val="75000"/>
              </a:schemeClr>
            </a:solidFill>
            <a:rou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016" name="Detector"/>
          <p:cNvSpPr/>
          <p:nvPr/>
        </p:nvSpPr>
        <p:spPr>
          <a:xfrm>
            <a:off x="182880" y="3273552"/>
            <a:ext cx="4507992" cy="141732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accent4">
                <a:lumMod val="75000"/>
              </a:schemeClr>
            </a:solidFill>
          </a:ln>
        </p:spPr>
        <p:txBody>
          <a:bodyPr wrap="square" lIns="54864" tIns="54864" rIns="54864" bIns="54864" rtlCol="0" anchor="t">
            <a:noAutofit/>
          </a:bodyPr>
          <a:lstStyle/>
          <a:p>
            <a:pPr algn="ctr"/>
            <a:r>
              <a:rPr lang="en-US" sz="1800" b="1" i="0" dirty="0">
                <a:solidFill>
                  <a:schemeClr val="tx1"/>
                </a:solidFill>
              </a:rPr>
              <a:t>Detector</a:t>
            </a:r>
          </a:p>
        </p:txBody>
      </p:sp>
      <p:sp>
        <p:nvSpPr>
          <p:cNvPr id="3017" name="Step 2"/>
          <p:cNvSpPr/>
          <p:nvPr/>
        </p:nvSpPr>
        <p:spPr>
          <a:xfrm>
            <a:off x="4343400" y="3328416"/>
            <a:ext cx="265176" cy="246888"/>
          </a:xfrm>
          <a:prstGeom prst="ellipse">
            <a:avLst/>
          </a:prstGeom>
          <a:noFill/>
          <a:ln w="12700">
            <a:solidFill>
              <a:schemeClr val="accent1">
                <a:lumMod val="50000"/>
              </a:schemeClr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300" b="0" i="0" dirty="0">
                <a:solidFill>
                  <a:schemeClr val="tx1"/>
                </a:solidFill>
              </a:rPr>
              <a:t>2</a:t>
            </a:r>
          </a:p>
        </p:txBody>
      </p:sp>
      <p:pic>
        <p:nvPicPr>
          <p:cNvPr id="3018" name="Graphic 34" descr="Network">
            <a:extLst>
              <a:ext uri="{FF2B5EF4-FFF2-40B4-BE49-F238E27FC236}">
                <a16:creationId xmlns:a16="http://schemas.microsoft.com/office/drawing/2014/main" id="{A7FB0F8A-EA93-D960-0287-5B653586E41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0040" y="3730752"/>
            <a:ext cx="347472" cy="355074"/>
          </a:xfrm>
          <a:prstGeom prst="rect">
            <a:avLst/>
          </a:prstGeom>
        </p:spPr>
      </p:pic>
      <p:sp>
        <p:nvSpPr>
          <p:cNvPr id="3019" name="detail"/>
          <p:cNvSpPr txBox="1"/>
          <p:nvPr/>
        </p:nvSpPr>
        <p:spPr>
          <a:xfrm>
            <a:off x="777240" y="3730752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/>
            <a:r>
              <a:rPr lang="en-US" sz="1300" b="1" i="0" dirty="0">
                <a:solidFill>
                  <a:schemeClr val="tx1"/>
                </a:solidFill>
              </a:rPr>
              <a:t>Edge-centric inductive GNN (E-GraphSAGE family)</a:t>
            </a:r>
          </a:p>
        </p:txBody>
      </p:sp>
      <p:pic>
        <p:nvPicPr>
          <p:cNvPr id="3020" name="Graphic 32" descr="Link">
            <a:extLst>
              <a:ext uri="{FF2B5EF4-FFF2-40B4-BE49-F238E27FC236}">
                <a16:creationId xmlns:a16="http://schemas.microsoft.com/office/drawing/2014/main" id="{448D0252-3E8D-3FC8-A079-126732DA14E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20040" y="4206240"/>
            <a:ext cx="347472" cy="355074"/>
          </a:xfrm>
          <a:prstGeom prst="rect">
            <a:avLst/>
          </a:prstGeom>
        </p:spPr>
      </p:pic>
      <p:sp>
        <p:nvSpPr>
          <p:cNvPr id="3021" name="detail"/>
          <p:cNvSpPr txBox="1"/>
          <p:nvPr/>
        </p:nvSpPr>
        <p:spPr>
          <a:xfrm>
            <a:off x="777240" y="4206240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/>
            <a:r>
              <a:rPr lang="en-US" sz="1300" b="1" i="0" dirty="0">
                <a:solidFill>
                  <a:schemeClr val="tx1"/>
                </a:solidFill>
              </a:rPr>
              <a:t>Jumping-knowledge fusion + target-edge scoring</a:t>
            </a:r>
          </a:p>
        </p:txBody>
      </p:sp>
      <p:sp>
        <p:nvSpPr>
          <p:cNvPr id="3022" name="a"/>
          <p:cNvSpPr/>
          <p:nvPr/>
        </p:nvSpPr>
        <p:spPr>
          <a:xfrm>
            <a:off x="2432304" y="4690872"/>
            <a:ext cx="914" cy="210312"/>
          </a:xfrm>
          <a:custGeom>
            <a:avLst/>
            <a:gdLst/>
            <a:ahLst/>
            <a:cxnLst/>
            <a:rect l="0" t="0" r="r" b="b"/>
            <a:pathLst>
              <a:path w="914" h="210312" fill="none">
                <a:moveTo>
                  <a:pt x="0" y="0"/>
                </a:moveTo>
                <a:lnTo>
                  <a:pt x="0" y="210312"/>
                </a:lnTo>
              </a:path>
            </a:pathLst>
          </a:custGeom>
          <a:noFill/>
          <a:ln w="15875">
            <a:solidFill>
              <a:schemeClr val="accent4">
                <a:lumMod val="75000"/>
              </a:schemeClr>
            </a:solidFill>
            <a:rou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023" name="Detector Outputs"/>
          <p:cNvSpPr/>
          <p:nvPr/>
        </p:nvSpPr>
        <p:spPr>
          <a:xfrm>
            <a:off x="182880" y="4901184"/>
            <a:ext cx="4507992" cy="3154680"/>
          </a:xfrm>
          <a:prstGeom prst="roundRect">
            <a:avLst>
              <a:gd name="adj" fmla="val 7000"/>
            </a:avLst>
          </a:prstGeom>
          <a:solidFill>
            <a:schemeClr val="accent4">
              <a:lumMod val="40000"/>
              <a:lumOff val="60000"/>
            </a:schemeClr>
          </a:solidFill>
          <a:ln w="12700">
            <a:solidFill>
              <a:schemeClr val="accent4">
                <a:lumMod val="75000"/>
              </a:schemeClr>
            </a:solidFill>
          </a:ln>
        </p:spPr>
        <p:txBody>
          <a:bodyPr wrap="square" lIns="54864" tIns="54864" rIns="54864" bIns="54864" rtlCol="0" anchor="t">
            <a:noAutofit/>
          </a:bodyPr>
          <a:lstStyle/>
          <a:p>
            <a:pPr algn="ctr"/>
            <a:r>
              <a:rPr lang="en-US" sz="1800" b="1" i="0" dirty="0">
                <a:solidFill>
                  <a:schemeClr val="tx1"/>
                </a:solidFill>
              </a:rPr>
              <a:t>Detector Outputs</a:t>
            </a:r>
          </a:p>
        </p:txBody>
      </p:sp>
      <p:sp>
        <p:nvSpPr>
          <p:cNvPr id="3024" name="Step 3"/>
          <p:cNvSpPr/>
          <p:nvPr/>
        </p:nvSpPr>
        <p:spPr>
          <a:xfrm>
            <a:off x="4343400" y="4956048"/>
            <a:ext cx="265176" cy="246888"/>
          </a:xfrm>
          <a:prstGeom prst="ellipse">
            <a:avLst/>
          </a:prstGeom>
          <a:noFill/>
          <a:ln w="12700">
            <a:solidFill>
              <a:schemeClr val="accent1">
                <a:lumMod val="50000"/>
              </a:schemeClr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300" b="0" i="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3025" name="Edge Classification"/>
          <p:cNvSpPr/>
          <p:nvPr/>
        </p:nvSpPr>
        <p:spPr>
          <a:xfrm>
            <a:off x="292608" y="5349240"/>
            <a:ext cx="2130552" cy="9144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accent4">
                <a:lumMod val="75000"/>
              </a:schemeClr>
            </a:solidFill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/>
            <a:r>
              <a:rPr lang="en-US" sz="1400" b="1" i="0" dirty="0">
                <a:solidFill>
                  <a:schemeClr val="tx1"/>
                </a:solidFill>
              </a:rPr>
              <a:t>Edge Classification</a:t>
            </a:r>
          </a:p>
          <a:p>
            <a:pPr algn="ctr"/>
            <a:r>
              <a:rPr lang="en-US" sz="1200" b="1" i="0" dirty="0">
                <a:solidFill>
                  <a:schemeClr val="tx1"/>
                </a:solidFill>
              </a:rPr>
              <a:t>Class logits</a:t>
            </a:r>
          </a:p>
          <a:p>
            <a:pPr algn="ctr"/>
            <a:r>
              <a:rPr lang="en-US" sz="1200" b="1" i="0" dirty="0">
                <a:solidFill>
                  <a:schemeClr val="tx1"/>
                </a:solidFill>
              </a:rPr>
              <a:t>Classification confidence</a:t>
            </a:r>
          </a:p>
        </p:txBody>
      </p:sp>
      <p:sp>
        <p:nvSpPr>
          <p:cNvPr id="3026" name="Edge Reconstruction"/>
          <p:cNvSpPr/>
          <p:nvPr/>
        </p:nvSpPr>
        <p:spPr>
          <a:xfrm>
            <a:off x="2514600" y="5349240"/>
            <a:ext cx="2066544" cy="9144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accent4">
                <a:lumMod val="75000"/>
              </a:schemeClr>
            </a:solidFill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/>
            <a:r>
              <a:rPr lang="en-US" sz="1400" b="1" i="0" dirty="0">
                <a:solidFill>
                  <a:schemeClr val="tx1"/>
                </a:solidFill>
              </a:rPr>
              <a:t>Edge Reconstruction</a:t>
            </a:r>
          </a:p>
          <a:p>
            <a:pPr algn="ctr"/>
            <a:r>
              <a:rPr lang="en-US" sz="1200" b="1" i="0" dirty="0">
                <a:solidFill>
                  <a:schemeClr val="tx1"/>
                </a:solidFill>
              </a:rPr>
              <a:t>Benign reconstruction error</a:t>
            </a:r>
          </a:p>
          <a:p>
            <a:pPr algn="ctr"/>
            <a:r>
              <a:rPr lang="en-US" sz="1200" b="1" i="0" dirty="0">
                <a:solidFill>
                  <a:schemeClr val="tx1"/>
                </a:solidFill>
              </a:rPr>
              <a:t>Normalized anomaly score</a:t>
            </a:r>
          </a:p>
        </p:txBody>
      </p:sp>
      <p:sp>
        <p:nvSpPr>
          <p:cNvPr id="3027" name="a"/>
          <p:cNvSpPr/>
          <p:nvPr/>
        </p:nvSpPr>
        <p:spPr>
          <a:xfrm>
            <a:off x="1353312" y="6263640"/>
            <a:ext cx="914" cy="182880"/>
          </a:xfrm>
          <a:custGeom>
            <a:avLst/>
            <a:gdLst/>
            <a:ahLst/>
            <a:cxnLst/>
            <a:rect l="0" t="0" r="r" b="b"/>
            <a:pathLst>
              <a:path w="914" h="182880" fill="none">
                <a:moveTo>
                  <a:pt x="0" y="0"/>
                </a:moveTo>
                <a:lnTo>
                  <a:pt x="0" y="182880"/>
                </a:lnTo>
              </a:path>
            </a:pathLst>
          </a:custGeom>
          <a:noFill/>
          <a:ln w="15875">
            <a:solidFill>
              <a:schemeClr val="accent4">
                <a:lumMod val="75000"/>
              </a:schemeClr>
            </a:solidFill>
            <a:rou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028" name="a"/>
          <p:cNvSpPr/>
          <p:nvPr/>
        </p:nvSpPr>
        <p:spPr>
          <a:xfrm>
            <a:off x="3547872" y="6263640"/>
            <a:ext cx="914" cy="182880"/>
          </a:xfrm>
          <a:custGeom>
            <a:avLst/>
            <a:gdLst/>
            <a:ahLst/>
            <a:cxnLst/>
            <a:rect l="0" t="0" r="r" b="b"/>
            <a:pathLst>
              <a:path w="914" h="182880" fill="none">
                <a:moveTo>
                  <a:pt x="0" y="0"/>
                </a:moveTo>
                <a:lnTo>
                  <a:pt x="0" y="182880"/>
                </a:lnTo>
              </a:path>
            </a:pathLst>
          </a:custGeom>
          <a:noFill/>
          <a:ln w="15875">
            <a:solidFill>
              <a:schemeClr val="accent4">
                <a:lumMod val="75000"/>
              </a:schemeClr>
            </a:solidFill>
            <a:rou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029" name="Hybrid Confidence"/>
          <p:cNvSpPr/>
          <p:nvPr/>
        </p:nvSpPr>
        <p:spPr>
          <a:xfrm>
            <a:off x="292608" y="6446520"/>
            <a:ext cx="4288536" cy="566928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accent4">
                <a:lumMod val="75000"/>
              </a:schemeClr>
            </a:solidFill>
          </a:ln>
        </p:spPr>
        <p:txBody>
          <a:bodyPr wrap="square" lIns="36576" tIns="36576" rIns="36576" bIns="36576" rtlCol="0" anchor="ctr">
            <a:noAutofit/>
          </a:bodyPr>
          <a:lstStyle/>
          <a:p>
            <a:endParaRPr lang="en-US"/>
          </a:p>
        </p:txBody>
      </p:sp>
      <p:sp>
        <p:nvSpPr>
          <p:cNvPr id="3030" name="hybrid label"/>
          <p:cNvSpPr txBox="1"/>
          <p:nvPr/>
        </p:nvSpPr>
        <p:spPr>
          <a:xfrm>
            <a:off x="822960" y="6446520"/>
            <a:ext cx="370332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/>
            <a:r>
              <a:rPr lang="en-US" sz="1400" b="1" i="0" dirty="0">
                <a:solidFill>
                  <a:schemeClr val="tx1"/>
                </a:solidFill>
              </a:rPr>
              <a:t>Hybrid Confidence: classification confidence + normalized anomaly score</a:t>
            </a:r>
          </a:p>
        </p:txBody>
      </p:sp>
      <p:pic>
        <p:nvPicPr>
          <p:cNvPr id="3031" name="Graphic 132" descr="Scales of justice">
            <a:extLst>
              <a:ext uri="{FF2B5EF4-FFF2-40B4-BE49-F238E27FC236}">
                <a16:creationId xmlns:a16="http://schemas.microsoft.com/office/drawing/2014/main" id="{ADE03189-0FE8-0DB6-5E76-6D65A1F889D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4048" y="6537960"/>
            <a:ext cx="365760" cy="365760"/>
          </a:xfrm>
          <a:prstGeom prst="rect">
            <a:avLst/>
          </a:prstGeom>
        </p:spPr>
      </p:pic>
      <p:sp>
        <p:nvSpPr>
          <p:cNvPr id="3032" name="Prediction"/>
          <p:cNvSpPr/>
          <p:nvPr/>
        </p:nvSpPr>
        <p:spPr>
          <a:xfrm>
            <a:off x="292608" y="7150608"/>
            <a:ext cx="1371600" cy="75895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accent4">
                <a:lumMod val="75000"/>
              </a:schemeClr>
            </a:solidFill>
          </a:ln>
        </p:spPr>
        <p:txBody>
          <a:bodyPr wrap="square" lIns="45720" tIns="45720" rIns="45720" bIns="45720" rtlCol="0" anchor="t">
            <a:noAutofit/>
          </a:bodyPr>
          <a:lstStyle/>
          <a:p>
            <a:endParaRPr lang="en-US"/>
          </a:p>
        </p:txBody>
      </p:sp>
      <p:pic>
        <p:nvPicPr>
          <p:cNvPr id="3033" name="Graphic 718" descr="Tag">
            <a:extLst>
              <a:ext uri="{FF2B5EF4-FFF2-40B4-BE49-F238E27FC236}">
                <a16:creationId xmlns:a16="http://schemas.microsoft.com/office/drawing/2014/main" id="{AFD84A70-497D-BFC2-F9E2-E32C10D6FE9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65760" y="7342632"/>
            <a:ext cx="347472" cy="347472"/>
          </a:xfrm>
          <a:prstGeom prst="rect">
            <a:avLst/>
          </a:prstGeom>
        </p:spPr>
      </p:pic>
      <p:sp>
        <p:nvSpPr>
          <p:cNvPr id="3034" name="Prediction label"/>
          <p:cNvSpPr txBox="1"/>
          <p:nvPr/>
        </p:nvSpPr>
        <p:spPr>
          <a:xfrm>
            <a:off x="749808" y="7150608"/>
            <a:ext cx="877824" cy="7589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/>
            <a:r>
              <a:rPr lang="en-US" sz="1300" b="1" i="0" dirty="0">
                <a:solidFill>
                  <a:schemeClr val="tx1"/>
                </a:solidFill>
              </a:rPr>
              <a:t>Prediction</a:t>
            </a:r>
          </a:p>
        </p:txBody>
      </p:sp>
      <p:sp>
        <p:nvSpPr>
          <p:cNvPr id="3035" name="Subgraph Signature"/>
          <p:cNvSpPr/>
          <p:nvPr/>
        </p:nvSpPr>
        <p:spPr>
          <a:xfrm>
            <a:off x="1737360" y="7150608"/>
            <a:ext cx="1371600" cy="75895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accent4">
                <a:lumMod val="75000"/>
              </a:schemeClr>
            </a:solidFill>
          </a:ln>
        </p:spPr>
        <p:txBody>
          <a:bodyPr wrap="square" lIns="45720" tIns="45720" rIns="45720" bIns="45720" rtlCol="0" anchor="t">
            <a:noAutofit/>
          </a:bodyPr>
          <a:lstStyle/>
          <a:p>
            <a:endParaRPr lang="en-US"/>
          </a:p>
        </p:txBody>
      </p:sp>
      <p:pic>
        <p:nvPicPr>
          <p:cNvPr id="3036" name="Graphic 809" descr="Braille">
            <a:extLst>
              <a:ext uri="{FF2B5EF4-FFF2-40B4-BE49-F238E27FC236}">
                <a16:creationId xmlns:a16="http://schemas.microsoft.com/office/drawing/2014/main" id="{886B7D9A-E2BA-6D22-2E90-BA24AB21104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810512" y="7342632"/>
            <a:ext cx="347472" cy="347472"/>
          </a:xfrm>
          <a:prstGeom prst="rect">
            <a:avLst/>
          </a:prstGeom>
        </p:spPr>
      </p:pic>
      <p:sp>
        <p:nvSpPr>
          <p:cNvPr id="3037" name="Subgraph Signature label"/>
          <p:cNvSpPr txBox="1"/>
          <p:nvPr/>
        </p:nvSpPr>
        <p:spPr>
          <a:xfrm>
            <a:off x="2194560" y="7150608"/>
            <a:ext cx="877824" cy="7589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/>
            <a:r>
              <a:rPr lang="en-US" sz="1300" b="1" i="0" dirty="0">
                <a:solidFill>
                  <a:schemeClr val="tx1"/>
                </a:solidFill>
              </a:rPr>
              <a:t>Subgraph Signature</a:t>
            </a:r>
          </a:p>
        </p:txBody>
      </p:sp>
      <p:sp>
        <p:nvSpPr>
          <p:cNvPr id="3038" name="Confidence"/>
          <p:cNvSpPr/>
          <p:nvPr/>
        </p:nvSpPr>
        <p:spPr>
          <a:xfrm>
            <a:off x="3182112" y="7150608"/>
            <a:ext cx="1371600" cy="75895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accent4">
                <a:lumMod val="75000"/>
              </a:schemeClr>
            </a:solidFill>
          </a:ln>
        </p:spPr>
        <p:txBody>
          <a:bodyPr wrap="square" lIns="45720" tIns="45720" rIns="45720" bIns="45720" rtlCol="0" anchor="t">
            <a:noAutofit/>
          </a:bodyPr>
          <a:lstStyle/>
          <a:p>
            <a:endParaRPr lang="en-US"/>
          </a:p>
        </p:txBody>
      </p:sp>
      <p:pic>
        <p:nvPicPr>
          <p:cNvPr id="3039" name="Graphic 717" descr="Thermometer">
            <a:extLst>
              <a:ext uri="{FF2B5EF4-FFF2-40B4-BE49-F238E27FC236}">
                <a16:creationId xmlns:a16="http://schemas.microsoft.com/office/drawing/2014/main" id="{7288C1C2-435F-4309-8612-0922C92D3CA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255264" y="7342632"/>
            <a:ext cx="347472" cy="347472"/>
          </a:xfrm>
          <a:prstGeom prst="rect">
            <a:avLst/>
          </a:prstGeom>
        </p:spPr>
      </p:pic>
      <p:sp>
        <p:nvSpPr>
          <p:cNvPr id="3040" name="Confidence label"/>
          <p:cNvSpPr txBox="1"/>
          <p:nvPr/>
        </p:nvSpPr>
        <p:spPr>
          <a:xfrm>
            <a:off x="3639312" y="7150608"/>
            <a:ext cx="877824" cy="7589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/>
            <a:r>
              <a:rPr lang="en-US" sz="1300" b="1" i="0" dirty="0">
                <a:solidFill>
                  <a:schemeClr val="tx1"/>
                </a:solidFill>
              </a:rPr>
              <a:t>Confidence</a:t>
            </a:r>
          </a:p>
        </p:txBody>
      </p:sp>
      <p:sp>
        <p:nvSpPr>
          <p:cNvPr id="3041" name="Evidence Store"/>
          <p:cNvSpPr/>
          <p:nvPr/>
        </p:nvSpPr>
        <p:spPr>
          <a:xfrm>
            <a:off x="777240" y="8229600"/>
            <a:ext cx="3291840" cy="1143000"/>
          </a:xfrm>
          <a:prstGeom prst="can">
            <a:avLst>
              <a:gd name="adj" fmla="val 18000"/>
            </a:avLst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accent2">
                <a:lumMod val="50000"/>
              </a:schemeClr>
            </a:solidFill>
          </a:ln>
        </p:spPr>
        <p:txBody>
          <a:bodyPr wrap="square" lIns="45720" tIns="45720" rIns="45720" bIns="45720" rtlCol="0" anchor="t">
            <a:noAutofit/>
          </a:bodyPr>
          <a:lstStyle/>
          <a:p>
            <a:endParaRPr lang="en-US"/>
          </a:p>
        </p:txBody>
      </p:sp>
      <p:pic>
        <p:nvPicPr>
          <p:cNvPr id="3042" name="Graphic 508" descr="Disconnected">
            <a:extLst>
              <a:ext uri="{FF2B5EF4-FFF2-40B4-BE49-F238E27FC236}">
                <a16:creationId xmlns:a16="http://schemas.microsoft.com/office/drawing/2014/main" id="{B4E3FAA3-D489-DED5-7504-833C2AA6BB6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5400000">
            <a:off x="1388025" y="8546084"/>
            <a:ext cx="411480" cy="411480"/>
          </a:xfrm>
          <a:prstGeom prst="rect">
            <a:avLst/>
          </a:prstGeom>
        </p:spPr>
      </p:pic>
      <p:sp>
        <p:nvSpPr>
          <p:cNvPr id="3043" name="store label"/>
          <p:cNvSpPr txBox="1"/>
          <p:nvPr/>
        </p:nvSpPr>
        <p:spPr>
          <a:xfrm>
            <a:off x="1203790" y="8444484"/>
            <a:ext cx="256032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600" b="1" i="0" dirty="0">
                <a:solidFill>
                  <a:schemeClr val="tx1"/>
                </a:solidFill>
              </a:rPr>
              <a:t>Evidence Store</a:t>
            </a:r>
          </a:p>
          <a:p>
            <a:pPr algn="ctr"/>
            <a:r>
              <a:rPr lang="en-US" sz="1100" b="1" i="1" dirty="0">
                <a:solidFill>
                  <a:schemeClr val="tx1"/>
                </a:solidFill>
              </a:rPr>
              <a:t>Built Only from Historical Traffic</a:t>
            </a:r>
          </a:p>
        </p:txBody>
      </p:sp>
      <p:sp>
        <p:nvSpPr>
          <p:cNvPr id="3044" name="sig-&gt;store"/>
          <p:cNvSpPr/>
          <p:nvPr/>
        </p:nvSpPr>
        <p:spPr>
          <a:xfrm>
            <a:off x="2432305" y="7909560"/>
            <a:ext cx="51646" cy="283464"/>
          </a:xfrm>
          <a:custGeom>
            <a:avLst/>
            <a:gdLst/>
            <a:ahLst/>
            <a:cxnLst/>
            <a:rect l="0" t="0" r="r" b="b"/>
            <a:pathLst>
              <a:path w="914" h="320040" fill="none">
                <a:moveTo>
                  <a:pt x="0" y="0"/>
                </a:moveTo>
                <a:lnTo>
                  <a:pt x="0" y="320040"/>
                </a:lnTo>
              </a:path>
            </a:pathLst>
          </a:custGeom>
          <a:noFill/>
          <a:ln w="15875">
            <a:solidFill>
              <a:schemeClr val="accent2">
                <a:lumMod val="50000"/>
              </a:schemeClr>
            </a:solidFill>
            <a:rou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045" name="Confidence Check"/>
          <p:cNvSpPr/>
          <p:nvPr/>
        </p:nvSpPr>
        <p:spPr>
          <a:xfrm>
            <a:off x="5843016" y="429768"/>
            <a:ext cx="2834640" cy="1600200"/>
          </a:xfrm>
          <a:prstGeom prst="diamond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accent2">
                <a:lumMod val="50000"/>
              </a:schemeClr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300" b="1" i="0" dirty="0">
                <a:solidFill>
                  <a:schemeClr val="tx1"/>
                </a:solidFill>
              </a:rPr>
              <a:t>Confidence Check</a:t>
            </a:r>
          </a:p>
          <a:p>
            <a:pPr algn="ctr"/>
            <a:r>
              <a:rPr lang="en-US" sz="1100" b="1" i="0" dirty="0">
                <a:solidFill>
                  <a:schemeClr val="tx1"/>
                </a:solidFill>
              </a:rPr>
              <a:t>Classifier confidence &lt; τ</a:t>
            </a:r>
          </a:p>
          <a:p>
            <a:pPr algn="ctr"/>
            <a:r>
              <a:rPr lang="en-US" sz="1100" b="1" i="0" dirty="0">
                <a:solidFill>
                  <a:schemeClr val="tx1"/>
                </a:solidFill>
              </a:rPr>
              <a:t>AND hybrid score &lt; τₕ ?</a:t>
            </a:r>
          </a:p>
          <a:p>
            <a:pPr algn="ctr"/>
            <a:r>
              <a:rPr lang="en-US" sz="1400" b="0" i="0" dirty="0">
                <a:solidFill>
                  <a:schemeClr val="tx1"/>
                </a:solidFill>
              </a:rPr>
              <a:t/>
            </a:r>
          </a:p>
        </p:txBody>
      </p:sp>
      <p:sp>
        <p:nvSpPr>
          <p:cNvPr id="3046" name="Step 4"/>
          <p:cNvSpPr/>
          <p:nvPr/>
        </p:nvSpPr>
        <p:spPr>
          <a:xfrm>
            <a:off x="9098280" y="429768"/>
            <a:ext cx="265176" cy="246888"/>
          </a:xfrm>
          <a:prstGeom prst="ellipse">
            <a:avLst/>
          </a:prstGeom>
          <a:noFill/>
          <a:ln w="12700">
            <a:solidFill>
              <a:schemeClr val="accent1">
                <a:lumMod val="50000"/>
              </a:schemeClr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300" b="0" i="0" dirty="0">
                <a:solidFill>
                  <a:schemeClr val="tx1"/>
                </a:solidFill>
              </a:rPr>
              <a:t>4</a:t>
            </a:r>
          </a:p>
        </p:txBody>
      </p:sp>
      <p:pic>
        <p:nvPicPr>
          <p:cNvPr id="3047" name="Graphic 224" descr="Gauge">
            <a:extLst>
              <a:ext uri="{FF2B5EF4-FFF2-40B4-BE49-F238E27FC236}">
                <a16:creationId xmlns:a16="http://schemas.microsoft.com/office/drawing/2014/main" id="{89DF94CC-ADEF-D584-56C0-066A762EF9D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104888" y="1481328"/>
            <a:ext cx="310896" cy="310896"/>
          </a:xfrm>
          <a:prstGeom prst="rect">
            <a:avLst/>
          </a:prstGeom>
        </p:spPr>
      </p:pic>
      <p:sp>
        <p:nvSpPr>
          <p:cNvPr id="3049" name="confident"/>
          <p:cNvSpPr/>
          <p:nvPr/>
        </p:nvSpPr>
        <p:spPr>
          <a:xfrm>
            <a:off x="6035040" y="2029968"/>
            <a:ext cx="1225296" cy="256032"/>
          </a:xfrm>
          <a:custGeom>
            <a:avLst/>
            <a:gdLst/>
            <a:ahLst/>
            <a:cxnLst/>
            <a:rect l="0" t="0" r="r" b="b"/>
            <a:pathLst>
              <a:path w="1225296" h="256032" fill="none">
                <a:moveTo>
                  <a:pt x="1225296" y="0"/>
                </a:moveTo>
                <a:lnTo>
                  <a:pt x="1225296" y="128016"/>
                </a:lnTo>
                <a:lnTo>
                  <a:pt x="0" y="128016"/>
                </a:lnTo>
                <a:lnTo>
                  <a:pt x="0" y="256032"/>
                </a:lnTo>
              </a:path>
            </a:pathLst>
          </a:custGeom>
          <a:noFill/>
          <a:ln w="15875">
            <a:solidFill>
              <a:schemeClr val="accent2">
                <a:lumMod val="50000"/>
              </a:schemeClr>
            </a:solidFill>
            <a:rou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051" name="Confident"/>
          <p:cNvSpPr/>
          <p:nvPr/>
        </p:nvSpPr>
        <p:spPr>
          <a:xfrm>
            <a:off x="5029200" y="2286000"/>
            <a:ext cx="2011680" cy="96012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accent2">
                <a:lumMod val="50000"/>
              </a:schemeClr>
            </a:solidFill>
          </a:ln>
        </p:spPr>
        <p:txBody>
          <a:bodyPr wrap="square" lIns="45720" tIns="45720" rIns="45720" bIns="45720" rtlCol="0" anchor="ctr">
            <a:noAutofit/>
          </a:bodyPr>
          <a:lstStyle/>
          <a:p>
            <a:pPr algn="ctr"/>
            <a:r>
              <a:rPr lang="en-US" sz="1500" b="1" i="0" dirty="0">
                <a:solidFill>
                  <a:schemeClr val="tx1"/>
                </a:solidFill>
              </a:rPr>
              <a:t>Confident (NO)</a:t>
            </a:r>
          </a:p>
          <a:p>
            <a:pPr algn="ctr"/>
            <a:r>
              <a:rPr lang="en-US" sz="1200" b="1" i="0" dirty="0">
                <a:solidFill>
                  <a:schemeClr val="tx1"/>
                </a:solidFill>
              </a:rPr>
              <a:t>Continue to RAG Stage</a:t>
            </a:r>
          </a:p>
        </p:txBody>
      </p:sp>
      <p:sp>
        <p:nvSpPr>
          <p:cNvPr id="3052" name="Uncertain"/>
          <p:cNvSpPr/>
          <p:nvPr/>
        </p:nvSpPr>
        <p:spPr>
          <a:xfrm>
            <a:off x="7178040" y="2286000"/>
            <a:ext cx="2148840" cy="96012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accent2">
                <a:lumMod val="50000"/>
              </a:schemeClr>
            </a:solidFill>
          </a:ln>
        </p:spPr>
        <p:txBody>
          <a:bodyPr wrap="square" lIns="64008" tIns="64008" rIns="64008" bIns="64008" rtlCol="0" anchor="b">
            <a:noAutofit/>
          </a:bodyPr>
          <a:lstStyle/>
          <a:p>
            <a:pPr algn="ctr"/>
            <a:r>
              <a:rPr lang="en-US" sz="1500" b="1" i="0" dirty="0">
                <a:solidFill>
                  <a:schemeClr val="tx1"/>
                </a:solidFill>
              </a:rPr>
              <a:t>Uncertain (YES)</a:t>
            </a:r>
          </a:p>
          <a:p>
            <a:pPr algn="ctr"/>
            <a:r>
              <a:rPr lang="en-US" sz="1100" b="1" i="0" dirty="0">
                <a:solidFill>
                  <a:schemeClr val="tx1"/>
                </a:solidFill>
              </a:rPr>
              <a:t>Escalate: No LLM Explanation</a:t>
            </a:r>
          </a:p>
          <a:p>
            <a:pPr algn="ctr"/>
            <a:r>
              <a:rPr lang="en-US" sz="1100" b="1" i="0" dirty="0">
                <a:solidFill>
                  <a:schemeClr val="tx1"/>
                </a:solidFill>
              </a:rPr>
              <a:t>→ Analyst Review</a:t>
            </a:r>
          </a:p>
        </p:txBody>
      </p:sp>
      <p:pic>
        <p:nvPicPr>
          <p:cNvPr id="3053" name="Graphic 413" descr="Warning">
            <a:extLst>
              <a:ext uri="{FF2B5EF4-FFF2-40B4-BE49-F238E27FC236}">
                <a16:creationId xmlns:a16="http://schemas.microsoft.com/office/drawing/2014/main" id="{9D475C12-8BA5-D631-9D2D-A8AE6BAA70C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333488" y="2518664"/>
            <a:ext cx="246888" cy="246888"/>
          </a:xfrm>
          <a:prstGeom prst="rect">
            <a:avLst/>
          </a:prstGeom>
        </p:spPr>
      </p:pic>
      <p:sp>
        <p:nvSpPr>
          <p:cNvPr id="3054" name="a"/>
          <p:cNvSpPr/>
          <p:nvPr/>
        </p:nvSpPr>
        <p:spPr>
          <a:xfrm>
            <a:off x="6035040" y="3246120"/>
            <a:ext cx="914" cy="228600"/>
          </a:xfrm>
          <a:custGeom>
            <a:avLst/>
            <a:gdLst/>
            <a:ahLst/>
            <a:cxnLst/>
            <a:rect l="0" t="0" r="r" b="b"/>
            <a:pathLst>
              <a:path w="914" h="228600" fill="none">
                <a:moveTo>
                  <a:pt x="0" y="0"/>
                </a:moveTo>
                <a:lnTo>
                  <a:pt x="0" y="228600"/>
                </a:lnTo>
              </a:path>
            </a:pathLst>
          </a:custGeom>
          <a:noFill/>
          <a:ln w="15875">
            <a:solidFill>
              <a:schemeClr val="accent2">
                <a:lumMod val="50000"/>
              </a:schemeClr>
            </a:solidFill>
            <a:rou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055" name="Structured Evidence Set"/>
          <p:cNvSpPr/>
          <p:nvPr/>
        </p:nvSpPr>
        <p:spPr>
          <a:xfrm>
            <a:off x="5029200" y="3474720"/>
            <a:ext cx="4297680" cy="3886200"/>
          </a:xfrm>
          <a:prstGeom prst="roundRect">
            <a:avLst>
              <a:gd name="adj" fmla="val 6000"/>
            </a:avLst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accent2">
                <a:lumMod val="50000"/>
              </a:schemeClr>
            </a:solidFill>
          </a:ln>
        </p:spPr>
        <p:txBody>
          <a:bodyPr wrap="square" lIns="54864" tIns="54864" rIns="54864" bIns="54864" rtlCol="0" anchor="t">
            <a:noAutofit/>
          </a:bodyPr>
          <a:lstStyle/>
          <a:p>
            <a:pPr algn="ctr"/>
            <a:r>
              <a:rPr lang="en-US" sz="1700" b="1" i="0" dirty="0">
                <a:solidFill>
                  <a:schemeClr val="tx1"/>
                </a:solidFill>
              </a:rPr>
              <a:t>Structured Evidence Set</a:t>
            </a:r>
          </a:p>
          <a:p>
            <a:pPr algn="ctr"/>
            <a:r>
              <a:rPr lang="en-US" sz="1200" b="1" i="1" dirty="0">
                <a:solidFill>
                  <a:schemeClr val="tx1"/>
                </a:solidFill>
              </a:rPr>
              <a:t>(Attribution &amp; Context)</a:t>
            </a:r>
          </a:p>
        </p:txBody>
      </p:sp>
      <p:sp>
        <p:nvSpPr>
          <p:cNvPr id="3056" name="Step 6"/>
          <p:cNvSpPr/>
          <p:nvPr/>
        </p:nvSpPr>
        <p:spPr>
          <a:xfrm>
            <a:off x="8961120" y="3529584"/>
            <a:ext cx="265176" cy="246888"/>
          </a:xfrm>
          <a:prstGeom prst="ellipse">
            <a:avLst/>
          </a:prstGeom>
          <a:noFill/>
          <a:ln w="12700">
            <a:solidFill>
              <a:schemeClr val="accent1">
                <a:lumMod val="50000"/>
              </a:schemeClr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300" b="0" i="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3057" name="Flow Details"/>
          <p:cNvSpPr/>
          <p:nvPr/>
        </p:nvSpPr>
        <p:spPr>
          <a:xfrm>
            <a:off x="5166360" y="4096512"/>
            <a:ext cx="4023360" cy="6858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accent2">
                <a:lumMod val="50000"/>
              </a:schemeClr>
            </a:solidFill>
            <a:prstDash val="dash"/>
          </a:ln>
        </p:spPr>
        <p:txBody>
          <a:bodyPr wrap="square" lIns="45720" tIns="45720" rIns="45720" bIns="45720" rtlCol="0" anchor="t">
            <a:noAutofit/>
          </a:bodyPr>
          <a:lstStyle/>
          <a:p>
            <a:endParaRPr lang="en-US"/>
          </a:p>
        </p:txBody>
      </p:sp>
      <p:pic>
        <p:nvPicPr>
          <p:cNvPr id="3058" name="Graphic 775" descr="Document">
            <a:extLst>
              <a:ext uri="{FF2B5EF4-FFF2-40B4-BE49-F238E27FC236}">
                <a16:creationId xmlns:a16="http://schemas.microsoft.com/office/drawing/2014/main" id="{5EA111FF-A6C2-89E7-DBCE-77FA2C670C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303520" y="4242816"/>
            <a:ext cx="384048" cy="384048"/>
          </a:xfrm>
          <a:prstGeom prst="rect">
            <a:avLst/>
          </a:prstGeom>
        </p:spPr>
      </p:pic>
      <p:sp>
        <p:nvSpPr>
          <p:cNvPr id="3059" name="Flow Details label"/>
          <p:cNvSpPr txBox="1"/>
          <p:nvPr/>
        </p:nvSpPr>
        <p:spPr>
          <a:xfrm>
            <a:off x="5852160" y="4096512"/>
            <a:ext cx="324612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/>
            <a:r>
              <a:rPr lang="en-US" sz="1400" b="1" i="0" dirty="0">
                <a:solidFill>
                  <a:schemeClr val="tx1"/>
                </a:solidFill>
              </a:rPr>
              <a:t>Flow Details</a:t>
            </a:r>
          </a:p>
        </p:txBody>
      </p:sp>
      <p:sp>
        <p:nvSpPr>
          <p:cNvPr id="3060" name="Influential Features"/>
          <p:cNvSpPr/>
          <p:nvPr/>
        </p:nvSpPr>
        <p:spPr>
          <a:xfrm>
            <a:off x="5166360" y="4901184"/>
            <a:ext cx="4023360" cy="6858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accent2">
                <a:lumMod val="50000"/>
              </a:schemeClr>
            </a:solidFill>
            <a:prstDash val="dash"/>
          </a:ln>
        </p:spPr>
        <p:txBody>
          <a:bodyPr wrap="square" lIns="45720" tIns="45720" rIns="45720" bIns="45720" rtlCol="0" anchor="t">
            <a:noAutofit/>
          </a:bodyPr>
          <a:lstStyle/>
          <a:p>
            <a:endParaRPr lang="en-US"/>
          </a:p>
        </p:txBody>
      </p:sp>
      <p:pic>
        <p:nvPicPr>
          <p:cNvPr id="3061" name="Graphic 720" descr="Signal">
            <a:extLst>
              <a:ext uri="{FF2B5EF4-FFF2-40B4-BE49-F238E27FC236}">
                <a16:creationId xmlns:a16="http://schemas.microsoft.com/office/drawing/2014/main" id="{AB10958D-D782-1419-2634-F6D57842F66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303520" y="5047488"/>
            <a:ext cx="384048" cy="384048"/>
          </a:xfrm>
          <a:prstGeom prst="rect">
            <a:avLst/>
          </a:prstGeom>
        </p:spPr>
      </p:pic>
      <p:sp>
        <p:nvSpPr>
          <p:cNvPr id="3062" name="Influential Features label"/>
          <p:cNvSpPr txBox="1"/>
          <p:nvPr/>
        </p:nvSpPr>
        <p:spPr>
          <a:xfrm>
            <a:off x="5852160" y="4901184"/>
            <a:ext cx="324612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/>
            <a:r>
              <a:rPr lang="en-US" sz="1400" b="1" i="0" dirty="0">
                <a:solidFill>
                  <a:schemeClr val="tx1"/>
                </a:solidFill>
              </a:rPr>
              <a:t>Influential Features</a:t>
            </a:r>
          </a:p>
          <a:p>
            <a:pPr algn="l"/>
            <a:r>
              <a:rPr lang="en-US" sz="1200" b="1" i="0" dirty="0">
                <a:solidFill>
                  <a:schemeClr val="tx1"/>
                </a:solidFill>
              </a:rPr>
              <a:t>Gradient × Input attribution</a:t>
            </a:r>
          </a:p>
        </p:txBody>
      </p:sp>
      <p:sp>
        <p:nvSpPr>
          <p:cNvPr id="3063" name="Local Subgraph Context"/>
          <p:cNvSpPr/>
          <p:nvPr/>
        </p:nvSpPr>
        <p:spPr>
          <a:xfrm>
            <a:off x="5166360" y="5705856"/>
            <a:ext cx="4023360" cy="6858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accent2">
                <a:lumMod val="50000"/>
              </a:schemeClr>
            </a:solidFill>
            <a:prstDash val="dash"/>
          </a:ln>
        </p:spPr>
        <p:txBody>
          <a:bodyPr wrap="square" lIns="45720" tIns="45720" rIns="45720" bIns="45720" rtlCol="0" anchor="t">
            <a:noAutofit/>
          </a:bodyPr>
          <a:lstStyle/>
          <a:p>
            <a:endParaRPr lang="en-US"/>
          </a:p>
        </p:txBody>
      </p:sp>
      <p:pic>
        <p:nvPicPr>
          <p:cNvPr id="3064" name="Graphic 776" descr="Network">
            <a:extLst>
              <a:ext uri="{FF2B5EF4-FFF2-40B4-BE49-F238E27FC236}">
                <a16:creationId xmlns:a16="http://schemas.microsoft.com/office/drawing/2014/main" id="{B632BD55-FCDF-F37D-5889-DDCD5EA62A0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303520" y="5852160"/>
            <a:ext cx="384048" cy="384048"/>
          </a:xfrm>
          <a:prstGeom prst="rect">
            <a:avLst/>
          </a:prstGeom>
        </p:spPr>
      </p:pic>
      <p:sp>
        <p:nvSpPr>
          <p:cNvPr id="3065" name="Local Subgraph Context label"/>
          <p:cNvSpPr txBox="1"/>
          <p:nvPr/>
        </p:nvSpPr>
        <p:spPr>
          <a:xfrm>
            <a:off x="5852160" y="5705856"/>
            <a:ext cx="324612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/>
            <a:r>
              <a:rPr lang="en-US" sz="1400" b="1" i="0" dirty="0">
                <a:solidFill>
                  <a:schemeClr val="tx1"/>
                </a:solidFill>
              </a:rPr>
              <a:t>Local Subgraph Context</a:t>
            </a:r>
          </a:p>
          <a:p>
            <a:pPr algn="l"/>
            <a:r>
              <a:rPr lang="en-US" sz="1200" b="1" i="0" dirty="0">
                <a:solidFill>
                  <a:schemeClr val="tx1"/>
                </a:solidFill>
              </a:rPr>
              <a:t>Local Graph Stats</a:t>
            </a:r>
          </a:p>
        </p:txBody>
      </p:sp>
      <p:sp>
        <p:nvSpPr>
          <p:cNvPr id="3066" name="Retrieved Similar Subgraphs"/>
          <p:cNvSpPr/>
          <p:nvPr/>
        </p:nvSpPr>
        <p:spPr>
          <a:xfrm>
            <a:off x="5166360" y="6510528"/>
            <a:ext cx="4023360" cy="6858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accent2">
                <a:lumMod val="50000"/>
              </a:schemeClr>
            </a:solidFill>
            <a:prstDash val="dash"/>
          </a:ln>
        </p:spPr>
        <p:txBody>
          <a:bodyPr wrap="square" lIns="45720" tIns="45720" rIns="45720" bIns="45720" rtlCol="0" anchor="t">
            <a:noAutofit/>
          </a:bodyPr>
          <a:lstStyle/>
          <a:p>
            <a:endParaRPr lang="en-US"/>
          </a:p>
        </p:txBody>
      </p:sp>
      <p:pic>
        <p:nvPicPr>
          <p:cNvPr id="3067" name="Graphic 415" descr="Magnifying glass">
            <a:extLst>
              <a:ext uri="{FF2B5EF4-FFF2-40B4-BE49-F238E27FC236}">
                <a16:creationId xmlns:a16="http://schemas.microsoft.com/office/drawing/2014/main" id="{A28A4055-343F-1C3F-84E6-D14BA1CDBE6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303520" y="6656832"/>
            <a:ext cx="384048" cy="384048"/>
          </a:xfrm>
          <a:prstGeom prst="rect">
            <a:avLst/>
          </a:prstGeom>
        </p:spPr>
      </p:pic>
      <p:sp>
        <p:nvSpPr>
          <p:cNvPr id="3068" name="Retrieved Similar Subgraphs label"/>
          <p:cNvSpPr txBox="1"/>
          <p:nvPr/>
        </p:nvSpPr>
        <p:spPr>
          <a:xfrm>
            <a:off x="5852160" y="6510528"/>
            <a:ext cx="324612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/>
            <a:r>
              <a:rPr lang="en-US" sz="1400" b="1" i="0" dirty="0">
                <a:solidFill>
                  <a:schemeClr val="tx1"/>
                </a:solidFill>
              </a:rPr>
              <a:t>Retrieved Similar Subgraphs</a:t>
            </a:r>
          </a:p>
          <a:p>
            <a:pPr algn="l"/>
            <a:r>
              <a:rPr lang="en-US" sz="1200" b="1" i="0" dirty="0">
                <a:solidFill>
                  <a:schemeClr val="tx1"/>
                </a:solidFill>
              </a:rPr>
              <a:t>Retrieved Precedents</a:t>
            </a:r>
          </a:p>
        </p:txBody>
      </p:sp>
      <p:sp>
        <p:nvSpPr>
          <p:cNvPr id="3069" name="Retrieval &amp; Ranking"/>
          <p:cNvSpPr/>
          <p:nvPr/>
        </p:nvSpPr>
        <p:spPr>
          <a:xfrm>
            <a:off x="5029200" y="7589520"/>
            <a:ext cx="4297680" cy="1783080"/>
          </a:xfrm>
          <a:prstGeom prst="roundRect">
            <a:avLst>
              <a:gd name="adj" fmla="val 8000"/>
            </a:avLst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accent2">
                <a:lumMod val="50000"/>
              </a:schemeClr>
            </a:solidFill>
          </a:ln>
        </p:spPr>
        <p:txBody>
          <a:bodyPr wrap="square" lIns="54864" tIns="54864" rIns="54864" bIns="54864" rtlCol="0" anchor="t">
            <a:noAutofit/>
          </a:bodyPr>
          <a:lstStyle/>
          <a:p>
            <a:pPr algn="ctr"/>
            <a:r>
              <a:rPr lang="en-US" sz="1600" b="1" i="0" dirty="0">
                <a:solidFill>
                  <a:schemeClr val="tx1"/>
                </a:solidFill>
              </a:rPr>
              <a:t>Retrieval &amp; Ranking</a:t>
            </a:r>
          </a:p>
        </p:txBody>
      </p:sp>
      <p:sp>
        <p:nvSpPr>
          <p:cNvPr id="3070" name="Step 5"/>
          <p:cNvSpPr/>
          <p:nvPr/>
        </p:nvSpPr>
        <p:spPr>
          <a:xfrm>
            <a:off x="8961120" y="7644384"/>
            <a:ext cx="265176" cy="246888"/>
          </a:xfrm>
          <a:prstGeom prst="ellipse">
            <a:avLst/>
          </a:prstGeom>
          <a:noFill/>
          <a:ln w="12700">
            <a:solidFill>
              <a:schemeClr val="accent1">
                <a:lumMod val="50000"/>
              </a:schemeClr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300" b="0" i="0" dirty="0">
                <a:solidFill>
                  <a:schemeClr val="tx1"/>
                </a:solidFill>
              </a:rPr>
              <a:t>5</a:t>
            </a:r>
          </a:p>
        </p:txBody>
      </p:sp>
      <p:pic>
        <p:nvPicPr>
          <p:cNvPr id="3071" name="Graphic 415" descr="Magnifying glass">
            <a:extLst>
              <a:ext uri="{FF2B5EF4-FFF2-40B4-BE49-F238E27FC236}">
                <a16:creationId xmlns:a16="http://schemas.microsoft.com/office/drawing/2014/main" id="{A28A4055-343F-1C3F-84E6-D14BA1CDBE6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989320" y="7616952"/>
            <a:ext cx="292608" cy="292608"/>
          </a:xfrm>
          <a:prstGeom prst="rect">
            <a:avLst/>
          </a:prstGeom>
        </p:spPr>
      </p:pic>
      <p:sp>
        <p:nvSpPr>
          <p:cNvPr id="3072" name="128-d L2-Normalized Embedding"/>
          <p:cNvSpPr/>
          <p:nvPr/>
        </p:nvSpPr>
        <p:spPr>
          <a:xfrm>
            <a:off x="5138928" y="8001000"/>
            <a:ext cx="1298448" cy="126187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accent2">
                <a:lumMod val="50000"/>
              </a:schemeClr>
            </a:solidFill>
            <a:prstDash val="dash"/>
          </a:ln>
        </p:spPr>
        <p:txBody>
          <a:bodyPr wrap="square" lIns="45720" tIns="45720" rIns="45720" bIns="45720" rtlCol="0" anchor="t">
            <a:noAutofit/>
          </a:bodyPr>
          <a:lstStyle/>
          <a:p>
            <a:endParaRPr lang="en-US"/>
          </a:p>
        </p:txBody>
      </p:sp>
      <p:pic>
        <p:nvPicPr>
          <p:cNvPr id="3073" name="Graphic 809" descr="Braille">
            <a:extLst>
              <a:ext uri="{FF2B5EF4-FFF2-40B4-BE49-F238E27FC236}">
                <a16:creationId xmlns:a16="http://schemas.microsoft.com/office/drawing/2014/main" id="{886B7D9A-E2BA-6D22-2E90-BA24AB21104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413248" y="8065008"/>
            <a:ext cx="347472" cy="347472"/>
          </a:xfrm>
          <a:prstGeom prst="rect">
            <a:avLst/>
          </a:prstGeom>
        </p:spPr>
      </p:pic>
      <p:sp>
        <p:nvSpPr>
          <p:cNvPr id="3074" name="128-d L2-Normalized Embedding label"/>
          <p:cNvSpPr txBox="1"/>
          <p:nvPr/>
        </p:nvSpPr>
        <p:spPr>
          <a:xfrm>
            <a:off x="5184648" y="8458200"/>
            <a:ext cx="1207008" cy="7498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100" b="1" i="0" dirty="0">
                <a:solidFill>
                  <a:schemeClr val="tx1"/>
                </a:solidFill>
              </a:rPr>
              <a:t>Normalized edge embedding</a:t>
            </a:r>
          </a:p>
        </p:txBody>
      </p:sp>
      <p:sp>
        <p:nvSpPr>
          <p:cNvPr id="3075" name="Dual-FAISS Indices (Benign/Attack)"/>
          <p:cNvSpPr/>
          <p:nvPr/>
        </p:nvSpPr>
        <p:spPr>
          <a:xfrm>
            <a:off x="6510528" y="8001000"/>
            <a:ext cx="1298448" cy="126187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accent2">
                <a:lumMod val="50000"/>
              </a:schemeClr>
            </a:solidFill>
            <a:prstDash val="dash"/>
          </a:ln>
        </p:spPr>
        <p:txBody>
          <a:bodyPr wrap="square" lIns="45720" tIns="45720" rIns="45720" bIns="45720" rtlCol="0" anchor="t">
            <a:noAutofit/>
          </a:bodyPr>
          <a:lstStyle/>
          <a:p>
            <a:endParaRPr lang="en-US"/>
          </a:p>
        </p:txBody>
      </p:sp>
      <p:pic>
        <p:nvPicPr>
          <p:cNvPr id="3076" name="Graphic 508" descr="Disconnected">
            <a:extLst>
              <a:ext uri="{FF2B5EF4-FFF2-40B4-BE49-F238E27FC236}">
                <a16:creationId xmlns:a16="http://schemas.microsoft.com/office/drawing/2014/main" id="{B4E3FAA3-D489-DED5-7504-833C2AA6BB6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5400000">
            <a:off x="6986016" y="8065008"/>
            <a:ext cx="347472" cy="347472"/>
          </a:xfrm>
          <a:prstGeom prst="rect">
            <a:avLst/>
          </a:prstGeom>
        </p:spPr>
      </p:pic>
      <p:sp>
        <p:nvSpPr>
          <p:cNvPr id="3077" name="Dual-FAISS Indices (Benign/Attack) label"/>
          <p:cNvSpPr txBox="1"/>
          <p:nvPr/>
        </p:nvSpPr>
        <p:spPr>
          <a:xfrm>
            <a:off x="6556248" y="8458200"/>
            <a:ext cx="1207008" cy="7498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100" b="1" i="0" dirty="0">
                <a:solidFill>
                  <a:schemeClr val="tx1"/>
                </a:solidFill>
              </a:rPr>
              <a:t>Dual index (benign / attack)</a:t>
            </a:r>
          </a:p>
        </p:txBody>
      </p:sp>
      <p:sp>
        <p:nvSpPr>
          <p:cNvPr id="3078" name="MMR Rerank (K = 3)"/>
          <p:cNvSpPr/>
          <p:nvPr/>
        </p:nvSpPr>
        <p:spPr>
          <a:xfrm>
            <a:off x="7882128" y="8001000"/>
            <a:ext cx="1298448" cy="126187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accent2">
                <a:lumMod val="50000"/>
              </a:schemeClr>
            </a:solidFill>
            <a:prstDash val="dash"/>
          </a:ln>
        </p:spPr>
        <p:txBody>
          <a:bodyPr wrap="square" lIns="45720" tIns="45720" rIns="45720" bIns="45720" rtlCol="0" anchor="t">
            <a:noAutofit/>
          </a:bodyPr>
          <a:lstStyle/>
          <a:p>
            <a:endParaRPr lang="en-US"/>
          </a:p>
        </p:txBody>
      </p:sp>
      <p:pic>
        <p:nvPicPr>
          <p:cNvPr id="3079" name="Graphic 510" descr="Trophy">
            <a:extLst>
              <a:ext uri="{FF2B5EF4-FFF2-40B4-BE49-F238E27FC236}">
                <a16:creationId xmlns:a16="http://schemas.microsoft.com/office/drawing/2014/main" id="{7A645985-311C-8F4B-C47A-5686C471E61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357616" y="8065008"/>
            <a:ext cx="347472" cy="340528"/>
          </a:xfrm>
          <a:prstGeom prst="rect">
            <a:avLst/>
          </a:prstGeom>
        </p:spPr>
      </p:pic>
      <p:sp>
        <p:nvSpPr>
          <p:cNvPr id="3080" name="MMR Rerank (K = 3) label"/>
          <p:cNvSpPr txBox="1"/>
          <p:nvPr/>
        </p:nvSpPr>
        <p:spPr>
          <a:xfrm>
            <a:off x="7927848" y="8458200"/>
            <a:ext cx="1207008" cy="7498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100" b="1" i="0" dirty="0">
                <a:solidFill>
                  <a:schemeClr val="tx1"/>
                </a:solidFill>
              </a:rPr>
              <a:t>MMR diversity re-rank</a:t>
            </a:r>
          </a:p>
        </p:txBody>
      </p:sp>
      <p:grpSp>
        <p:nvGrpSpPr>
          <p:cNvPr id="3081" name="Group 612">
            <a:extLst>
              <a:ext uri="{FF2B5EF4-FFF2-40B4-BE49-F238E27FC236}">
                <a16:creationId xmlns:a16="http://schemas.microsoft.com/office/drawing/2014/main" id="{2E7D8745-2262-8370-A3DE-E80198501C08}"/>
              </a:ext>
            </a:extLst>
          </p:cNvPr>
          <p:cNvGrpSpPr/>
          <p:nvPr/>
        </p:nvGrpSpPr>
        <p:grpSpPr>
          <a:xfrm rot="10800000">
            <a:off x="5760720" y="8183880"/>
            <a:ext cx="548640" cy="146182"/>
            <a:chOff x="2267914" y="2167224"/>
            <a:chExt cx="1280366" cy="323962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3082" name="Rectangle 614">
              <a:extLst>
                <a:ext uri="{FF2B5EF4-FFF2-40B4-BE49-F238E27FC236}">
                  <a16:creationId xmlns:a16="http://schemas.microsoft.com/office/drawing/2014/main" id="{6C8B1979-EA02-7895-F125-44CC6D955170}"/>
                </a:ext>
              </a:extLst>
            </p:cNvPr>
            <p:cNvSpPr/>
            <p:nvPr/>
          </p:nvSpPr>
          <p:spPr>
            <a:xfrm>
              <a:off x="2267914" y="2167224"/>
              <a:ext cx="318828" cy="323962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83" name="Rectangle 615">
              <a:extLst>
                <a:ext uri="{FF2B5EF4-FFF2-40B4-BE49-F238E27FC236}">
                  <a16:creationId xmlns:a16="http://schemas.microsoft.com/office/drawing/2014/main" id="{9897C928-46A4-E7FB-2C94-F4C2421D30CA}"/>
                </a:ext>
              </a:extLst>
            </p:cNvPr>
            <p:cNvSpPr/>
            <p:nvPr/>
          </p:nvSpPr>
          <p:spPr>
            <a:xfrm>
              <a:off x="2590396" y="2168449"/>
              <a:ext cx="318826" cy="321719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84" name="Rectangle 616">
              <a:extLst>
                <a:ext uri="{FF2B5EF4-FFF2-40B4-BE49-F238E27FC236}">
                  <a16:creationId xmlns:a16="http://schemas.microsoft.com/office/drawing/2014/main" id="{A32CCED1-2AEA-A7A2-4603-E55447B8CEF0}"/>
                </a:ext>
              </a:extLst>
            </p:cNvPr>
            <p:cNvSpPr/>
            <p:nvPr/>
          </p:nvSpPr>
          <p:spPr>
            <a:xfrm>
              <a:off x="2912431" y="2167344"/>
              <a:ext cx="318826" cy="322732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85" name="Rectangle 617">
              <a:extLst>
                <a:ext uri="{FF2B5EF4-FFF2-40B4-BE49-F238E27FC236}">
                  <a16:creationId xmlns:a16="http://schemas.microsoft.com/office/drawing/2014/main" id="{8F88725E-CBC5-43EC-B58D-718D9C17B537}"/>
                </a:ext>
              </a:extLst>
            </p:cNvPr>
            <p:cNvSpPr/>
            <p:nvPr/>
          </p:nvSpPr>
          <p:spPr>
            <a:xfrm>
              <a:off x="3229454" y="2168449"/>
              <a:ext cx="318826" cy="322732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086" name="a"/>
          <p:cNvSpPr/>
          <p:nvPr/>
        </p:nvSpPr>
        <p:spPr>
          <a:xfrm>
            <a:off x="7178040" y="7196328"/>
            <a:ext cx="914" cy="393192"/>
          </a:xfrm>
          <a:custGeom>
            <a:avLst/>
            <a:gdLst/>
            <a:ahLst/>
            <a:cxnLst/>
            <a:rect l="0" t="0" r="r" b="b"/>
            <a:pathLst>
              <a:path w="914" h="393192" fill="none">
                <a:moveTo>
                  <a:pt x="0" y="393192"/>
                </a:moveTo>
                <a:lnTo>
                  <a:pt x="0" y="0"/>
                </a:lnTo>
              </a:path>
            </a:pathLst>
          </a:custGeom>
          <a:noFill/>
          <a:ln w="15875">
            <a:solidFill>
              <a:schemeClr val="accent2">
                <a:lumMod val="50000"/>
              </a:schemeClr>
            </a:solidFill>
            <a:rou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087" name="retrieval"/>
          <p:cNvSpPr/>
          <p:nvPr/>
        </p:nvSpPr>
        <p:spPr>
          <a:xfrm>
            <a:off x="4069080" y="8796528"/>
            <a:ext cx="960120" cy="914"/>
          </a:xfrm>
          <a:custGeom>
            <a:avLst/>
            <a:gdLst/>
            <a:ahLst/>
            <a:cxnLst/>
            <a:rect l="0" t="0" r="r" b="b"/>
            <a:pathLst>
              <a:path w="960120" h="914" fill="none">
                <a:moveTo>
                  <a:pt x="0" y="0"/>
                </a:moveTo>
                <a:lnTo>
                  <a:pt x="960120" y="0"/>
                </a:lnTo>
              </a:path>
            </a:pathLst>
          </a:custGeom>
          <a:noFill/>
          <a:ln w="15875">
            <a:solidFill>
              <a:schemeClr val="accent2">
                <a:lumMod val="50000"/>
              </a:schemeClr>
            </a:solidFill>
            <a:rou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088" name="retrieval label"/>
          <p:cNvSpPr txBox="1"/>
          <p:nvPr/>
        </p:nvSpPr>
        <p:spPr>
          <a:xfrm>
            <a:off x="4160520" y="8549640"/>
            <a:ext cx="82296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lang="en-US" sz="1100" b="1" i="1" dirty="0">
                <a:solidFill>
                  <a:schemeClr val="accent2">
                    <a:lumMod val="50000"/>
                  </a:schemeClr>
                </a:solidFill>
              </a:rPr>
              <a:t>Retrieval</a:t>
            </a:r>
          </a:p>
        </p:txBody>
      </p:sp>
      <p:sp>
        <p:nvSpPr>
          <p:cNvPr id="3089" name="Explanation Generator"/>
          <p:cNvSpPr/>
          <p:nvPr/>
        </p:nvSpPr>
        <p:spPr>
          <a:xfrm>
            <a:off x="10241280" y="384048"/>
            <a:ext cx="4206240" cy="1810512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12700">
            <a:solidFill>
              <a:schemeClr val="accent6">
                <a:lumMod val="75000"/>
              </a:schemeClr>
            </a:solidFill>
          </a:ln>
        </p:spPr>
        <p:txBody>
          <a:bodyPr wrap="square" lIns="54864" tIns="54864" rIns="54864" bIns="54864" rtlCol="0" anchor="t">
            <a:noAutofit/>
          </a:bodyPr>
          <a:lstStyle/>
          <a:p>
            <a:pPr algn="ctr"/>
            <a:r>
              <a:rPr lang="en-US" sz="1700" b="1" i="0" dirty="0">
                <a:solidFill>
                  <a:schemeClr val="tx1"/>
                </a:solidFill>
              </a:rPr>
              <a:t>Explanation Generator</a:t>
            </a:r>
          </a:p>
        </p:txBody>
      </p:sp>
      <p:sp>
        <p:nvSpPr>
          <p:cNvPr id="3090" name="Step 7"/>
          <p:cNvSpPr/>
          <p:nvPr/>
        </p:nvSpPr>
        <p:spPr>
          <a:xfrm>
            <a:off x="14127480" y="429768"/>
            <a:ext cx="265176" cy="246888"/>
          </a:xfrm>
          <a:prstGeom prst="ellipse">
            <a:avLst/>
          </a:prstGeom>
          <a:noFill/>
          <a:ln w="12700">
            <a:solidFill>
              <a:schemeClr val="accent1">
                <a:lumMod val="50000"/>
              </a:schemeClr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300" b="0" i="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3091" name="Prompt Construction"/>
          <p:cNvSpPr/>
          <p:nvPr/>
        </p:nvSpPr>
        <p:spPr>
          <a:xfrm>
            <a:off x="10378440" y="777240"/>
            <a:ext cx="3931920" cy="9144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accent6">
                <a:lumMod val="75000"/>
              </a:schemeClr>
            </a:solidFill>
            <a:prstDash val="dash"/>
          </a:ln>
        </p:spPr>
        <p:txBody>
          <a:bodyPr wrap="square" lIns="36576" tIns="36576" rIns="36576" bIns="36576" rtlCol="0" anchor="t">
            <a:noAutofit/>
          </a:bodyPr>
          <a:lstStyle/>
          <a:p>
            <a:pPr algn="ctr"/>
            <a:r>
              <a:rPr lang="en-US" sz="1200" b="1" i="0" dirty="0">
                <a:solidFill>
                  <a:schemeClr val="tx1"/>
                </a:solidFill>
              </a:rPr>
              <a:t>Prompt Construction</a:t>
            </a:r>
          </a:p>
        </p:txBody>
      </p:sp>
      <p:pic>
        <p:nvPicPr>
          <p:cNvPr id="3092" name="Graphic 610" descr="Checklist">
            <a:extLst>
              <a:ext uri="{FF2B5EF4-FFF2-40B4-BE49-F238E27FC236}">
                <a16:creationId xmlns:a16="http://schemas.microsoft.com/office/drawing/2014/main" id="{4BED9C4B-BA15-D68B-4997-D46DCDD0561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0515600" y="1143000"/>
            <a:ext cx="329184" cy="329184"/>
          </a:xfrm>
          <a:prstGeom prst="rect">
            <a:avLst/>
          </a:prstGeom>
        </p:spPr>
      </p:pic>
      <p:sp>
        <p:nvSpPr>
          <p:cNvPr id="3093" name="ts"/>
          <p:cNvSpPr txBox="1"/>
          <p:nvPr/>
        </p:nvSpPr>
        <p:spPr>
          <a:xfrm>
            <a:off x="10899648" y="1097280"/>
            <a:ext cx="15544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/>
            <a:r>
              <a:rPr lang="en-US" sz="1200" b="1" i="0" dirty="0">
                <a:solidFill>
                  <a:schemeClr val="tx1"/>
                </a:solidFill>
              </a:rPr>
              <a:t>Triple Serialization</a:t>
            </a:r>
          </a:p>
        </p:txBody>
      </p:sp>
      <p:sp>
        <p:nvSpPr>
          <p:cNvPr id="3094" name="{}"/>
          <p:cNvSpPr txBox="1"/>
          <p:nvPr/>
        </p:nvSpPr>
        <p:spPr>
          <a:xfrm>
            <a:off x="12390120" y="1097280"/>
            <a:ext cx="3657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400" b="1" i="0" dirty="0">
                <a:solidFill>
                  <a:schemeClr val="accent6">
                    <a:lumMod val="50000"/>
                  </a:schemeClr>
                </a:solidFill>
              </a:rPr>
              <a:t>{ }</a:t>
            </a:r>
          </a:p>
        </p:txBody>
      </p:sp>
      <p:sp>
        <p:nvSpPr>
          <p:cNvPr id="3095" name="js"/>
          <p:cNvSpPr txBox="1"/>
          <p:nvPr/>
        </p:nvSpPr>
        <p:spPr>
          <a:xfrm>
            <a:off x="12774168" y="1097280"/>
            <a:ext cx="1475232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/>
            <a:r>
              <a:rPr lang="en-US" sz="1200" b="1" i="0" dirty="0">
                <a:solidFill>
                  <a:schemeClr val="tx1"/>
                </a:solidFill>
              </a:rPr>
              <a:t>Structured JSON Prompt</a:t>
            </a:r>
          </a:p>
        </p:txBody>
      </p:sp>
      <p:pic>
        <p:nvPicPr>
          <p:cNvPr id="3096" name="Picture 431" descr="File:Ollama-logo.svg - Wikimedia Commons">
            <a:extLst>
              <a:ext uri="{FF2B5EF4-FFF2-40B4-BE49-F238E27FC236}">
                <a16:creationId xmlns:a16="http://schemas.microsoft.com/office/drawing/2014/main" id="{136D9EAB-BA5A-2450-DE91-A1FCAD3B73C7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1475720" y="1783080"/>
            <a:ext cx="201168" cy="295884"/>
          </a:xfrm>
          <a:prstGeom prst="rect">
            <a:avLst/>
          </a:prstGeom>
        </p:spPr>
      </p:pic>
      <p:sp>
        <p:nvSpPr>
          <p:cNvPr id="3097" name="llm"/>
          <p:cNvSpPr txBox="1"/>
          <p:nvPr/>
        </p:nvSpPr>
        <p:spPr>
          <a:xfrm>
            <a:off x="11750040" y="1764792"/>
            <a:ext cx="201168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/>
            <a:r>
              <a:rPr lang="en-US" sz="1300" b="1" i="0" dirty="0">
                <a:solidFill>
                  <a:schemeClr val="tx1"/>
                </a:solidFill>
              </a:rPr>
              <a:t>Local language model</a:t>
            </a:r>
          </a:p>
        </p:txBody>
      </p:sp>
      <p:sp>
        <p:nvSpPr>
          <p:cNvPr id="3099" name="context label"/>
          <p:cNvSpPr txBox="1"/>
          <p:nvPr/>
        </p:nvSpPr>
        <p:spPr>
          <a:xfrm>
            <a:off x="9646920" y="1069848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lang="en-US" sz="1100" b="1" i="1" dirty="0">
                <a:solidFill>
                  <a:schemeClr val="accent6">
                    <a:lumMod val="50000"/>
                  </a:schemeClr>
                </a:solidFill>
              </a:rPr>
              <a:t>Context</a:t>
            </a:r>
          </a:p>
        </p:txBody>
      </p:sp>
      <p:sp>
        <p:nvSpPr>
          <p:cNvPr id="3100" name="a"/>
          <p:cNvSpPr/>
          <p:nvPr/>
        </p:nvSpPr>
        <p:spPr>
          <a:xfrm>
            <a:off x="12344400" y="2194560"/>
            <a:ext cx="914" cy="201168"/>
          </a:xfrm>
          <a:custGeom>
            <a:avLst/>
            <a:gdLst/>
            <a:ahLst/>
            <a:cxnLst/>
            <a:rect l="0" t="0" r="r" b="b"/>
            <a:pathLst>
              <a:path w="914" h="201168" fill="none">
                <a:moveTo>
                  <a:pt x="0" y="0"/>
                </a:moveTo>
                <a:lnTo>
                  <a:pt x="0" y="201168"/>
                </a:lnTo>
              </a:path>
            </a:pathLst>
          </a:custGeom>
          <a:noFill/>
          <a:ln w="15875">
            <a:solidFill>
              <a:schemeClr val="tx1"/>
            </a:solidFill>
            <a:rou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101" name="Output panel"/>
          <p:cNvSpPr/>
          <p:nvPr/>
        </p:nvSpPr>
        <p:spPr>
          <a:xfrm>
            <a:off x="9829800" y="2395728"/>
            <a:ext cx="4617720" cy="6748272"/>
          </a:xfrm>
          <a:prstGeom prst="roundRect">
            <a:avLst>
              <a:gd name="adj" fmla="val 4000"/>
            </a:avLst>
          </a:prstGeom>
          <a:solidFill>
            <a:schemeClr val="bg1">
              <a:lumMod val="75000"/>
            </a:schemeClr>
          </a:solidFill>
          <a:ln w="12700">
            <a:solidFill>
              <a:schemeClr val="accent6">
                <a:lumMod val="75000"/>
              </a:schemeClr>
            </a:solidFill>
          </a:ln>
        </p:spPr>
        <p:txBody>
          <a:bodyPr wrap="square" lIns="45720" tIns="45720" rIns="45720" bIns="45720" rtlCol="0" anchor="t">
            <a:noAutofit/>
          </a:bodyPr>
          <a:lstStyle/>
          <a:p>
            <a:endParaRPr lang="en-US"/>
          </a:p>
        </p:txBody>
      </p:sp>
      <p:sp>
        <p:nvSpPr>
          <p:cNvPr id="3102" name="Output label"/>
          <p:cNvSpPr txBox="1"/>
          <p:nvPr/>
        </p:nvSpPr>
        <p:spPr>
          <a:xfrm>
            <a:off x="11219688" y="9162288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/>
            <a:r>
              <a:rPr lang="en-US" sz="1600" b="1" i="0" dirty="0">
                <a:solidFill>
                  <a:schemeClr val="tx1"/>
                </a:solidFill>
              </a:rPr>
              <a:t>Output</a:t>
            </a:r>
          </a:p>
        </p:txBody>
      </p:sp>
      <p:sp>
        <p:nvSpPr>
          <p:cNvPr id="3103" name="Structured Output (JSON)"/>
          <p:cNvSpPr/>
          <p:nvPr/>
        </p:nvSpPr>
        <p:spPr>
          <a:xfrm>
            <a:off x="9966960" y="2514600"/>
            <a:ext cx="4343400" cy="1463040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45720" tIns="45720" rIns="45720" bIns="45720" rtlCol="0" anchor="t">
            <a:noAutofit/>
          </a:bodyPr>
          <a:lstStyle/>
          <a:p>
            <a:pPr algn="ctr"/>
            <a:r>
              <a:rPr lang="en-US" sz="1500" b="1" i="0" dirty="0">
                <a:solidFill>
                  <a:schemeClr val="tx1"/>
                </a:solidFill>
              </a:rPr>
              <a:t>Structured Output (JSON)</a:t>
            </a:r>
          </a:p>
        </p:txBody>
      </p:sp>
      <p:sp>
        <p:nvSpPr>
          <p:cNvPr id="3104" name="Step 8"/>
          <p:cNvSpPr/>
          <p:nvPr/>
        </p:nvSpPr>
        <p:spPr>
          <a:xfrm>
            <a:off x="13990320" y="2560320"/>
            <a:ext cx="265176" cy="246888"/>
          </a:xfrm>
          <a:prstGeom prst="ellipse">
            <a:avLst/>
          </a:prstGeom>
          <a:noFill/>
          <a:ln w="12700">
            <a:solidFill>
              <a:schemeClr val="accent1">
                <a:lumMod val="50000"/>
              </a:schemeClr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300" b="0" i="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3105" name="so inner"/>
          <p:cNvSpPr/>
          <p:nvPr/>
        </p:nvSpPr>
        <p:spPr>
          <a:xfrm>
            <a:off x="10058400" y="2852928"/>
            <a:ext cx="4160520" cy="1033272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accent6">
                <a:lumMod val="75000"/>
              </a:schemeClr>
            </a:solidFill>
            <a:prstDash val="dash"/>
          </a:ln>
        </p:spPr>
        <p:txBody>
          <a:bodyPr wrap="square" lIns="45720" tIns="45720" rIns="45720" bIns="45720" rtlCol="0" anchor="t">
            <a:noAutofit/>
          </a:bodyPr>
          <a:lstStyle/>
          <a:p>
            <a:endParaRPr lang="en-US"/>
          </a:p>
        </p:txBody>
      </p:sp>
      <p:pic>
        <p:nvPicPr>
          <p:cNvPr id="3106" name="Graphic 718" descr="Tag">
            <a:extLst>
              <a:ext uri="{FF2B5EF4-FFF2-40B4-BE49-F238E27FC236}">
                <a16:creationId xmlns:a16="http://schemas.microsoft.com/office/drawing/2014/main" id="{AFD84A70-497D-BFC2-F9E2-E32C10D6FE9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0195560" y="2916936"/>
            <a:ext cx="274320" cy="274320"/>
          </a:xfrm>
          <a:prstGeom prst="rect">
            <a:avLst/>
          </a:prstGeom>
        </p:spPr>
      </p:pic>
      <p:sp>
        <p:nvSpPr>
          <p:cNvPr id="3107" name="Predicted Class"/>
          <p:cNvSpPr txBox="1"/>
          <p:nvPr/>
        </p:nvSpPr>
        <p:spPr>
          <a:xfrm>
            <a:off x="10543032" y="2898648"/>
            <a:ext cx="164592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/>
            <a:r>
              <a:rPr lang="en-US" sz="1200" b="1" i="0" dirty="0">
                <a:solidFill>
                  <a:schemeClr val="tx1"/>
                </a:solidFill>
              </a:rPr>
              <a:t>Predicted Class</a:t>
            </a:r>
          </a:p>
        </p:txBody>
      </p:sp>
      <p:pic>
        <p:nvPicPr>
          <p:cNvPr id="3108" name="Graphic 720" descr="Signal">
            <a:extLst>
              <a:ext uri="{FF2B5EF4-FFF2-40B4-BE49-F238E27FC236}">
                <a16:creationId xmlns:a16="http://schemas.microsoft.com/office/drawing/2014/main" id="{AB10958D-D782-1419-2634-F6D57842F66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2298680" y="2916936"/>
            <a:ext cx="274320" cy="274320"/>
          </a:xfrm>
          <a:prstGeom prst="rect">
            <a:avLst/>
          </a:prstGeom>
        </p:spPr>
      </p:pic>
      <p:sp>
        <p:nvSpPr>
          <p:cNvPr id="3109" name="Rationale"/>
          <p:cNvSpPr txBox="1"/>
          <p:nvPr/>
        </p:nvSpPr>
        <p:spPr>
          <a:xfrm>
            <a:off x="12646152" y="2898648"/>
            <a:ext cx="164592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/>
            <a:r>
              <a:rPr lang="en-US" sz="1200" b="1" i="0" dirty="0">
                <a:solidFill>
                  <a:schemeClr val="tx1"/>
                </a:solidFill>
              </a:rPr>
              <a:t>Rationale</a:t>
            </a:r>
          </a:p>
        </p:txBody>
      </p:sp>
      <p:pic>
        <p:nvPicPr>
          <p:cNvPr id="3110" name="Graphic 717" descr="Thermometer">
            <a:extLst>
              <a:ext uri="{FF2B5EF4-FFF2-40B4-BE49-F238E27FC236}">
                <a16:creationId xmlns:a16="http://schemas.microsoft.com/office/drawing/2014/main" id="{7288C1C2-435F-4309-8612-0922C92D3CA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195560" y="3236976"/>
            <a:ext cx="274320" cy="274320"/>
          </a:xfrm>
          <a:prstGeom prst="rect">
            <a:avLst/>
          </a:prstGeom>
        </p:spPr>
      </p:pic>
      <p:sp>
        <p:nvSpPr>
          <p:cNvPr id="3111" name="Confidence Level"/>
          <p:cNvSpPr txBox="1"/>
          <p:nvPr/>
        </p:nvSpPr>
        <p:spPr>
          <a:xfrm>
            <a:off x="10543032" y="3218688"/>
            <a:ext cx="164592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/>
            <a:r>
              <a:rPr lang="en-US" sz="1200" b="1" i="0" dirty="0">
                <a:solidFill>
                  <a:schemeClr val="tx1"/>
                </a:solidFill>
              </a:rPr>
              <a:t>Confidence Level</a:t>
            </a:r>
          </a:p>
        </p:txBody>
      </p:sp>
      <p:pic>
        <p:nvPicPr>
          <p:cNvPr id="3112" name="Graphic 721" descr="Line arrow Rotate right">
            <a:extLst>
              <a:ext uri="{FF2B5EF4-FFF2-40B4-BE49-F238E27FC236}">
                <a16:creationId xmlns:a16="http://schemas.microsoft.com/office/drawing/2014/main" id="{1BC114D1-B35F-5F9C-875C-A7D99A4C086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12298680" y="3236976"/>
            <a:ext cx="274320" cy="274320"/>
          </a:xfrm>
          <a:prstGeom prst="rect">
            <a:avLst/>
          </a:prstGeom>
        </p:spPr>
      </p:pic>
      <p:sp>
        <p:nvSpPr>
          <p:cNvPr id="3113" name="Counterfactual"/>
          <p:cNvSpPr txBox="1"/>
          <p:nvPr/>
        </p:nvSpPr>
        <p:spPr>
          <a:xfrm>
            <a:off x="12646152" y="3218688"/>
            <a:ext cx="164592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/>
            <a:r>
              <a:rPr lang="en-US" sz="1200" b="1" i="0" dirty="0">
                <a:solidFill>
                  <a:schemeClr val="tx1"/>
                </a:solidFill>
              </a:rPr>
              <a:t>Counterfactual</a:t>
            </a:r>
          </a:p>
        </p:txBody>
      </p:sp>
      <p:pic>
        <p:nvPicPr>
          <p:cNvPr id="3114" name="Graphic 719" descr="Eye">
            <a:extLst>
              <a:ext uri="{FF2B5EF4-FFF2-40B4-BE49-F238E27FC236}">
                <a16:creationId xmlns:a16="http://schemas.microsoft.com/office/drawing/2014/main" id="{82FB9A72-E5C5-CC70-F14C-B230791F707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11247120" y="3557016"/>
            <a:ext cx="274320" cy="274320"/>
          </a:xfrm>
          <a:prstGeom prst="rect">
            <a:avLst/>
          </a:prstGeom>
        </p:spPr>
      </p:pic>
      <p:sp>
        <p:nvSpPr>
          <p:cNvPr id="3115" name="Evidence List"/>
          <p:cNvSpPr txBox="1"/>
          <p:nvPr/>
        </p:nvSpPr>
        <p:spPr>
          <a:xfrm>
            <a:off x="11594592" y="3538728"/>
            <a:ext cx="164592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/>
            <a:r>
              <a:rPr lang="en-US" sz="1200" b="1" i="0" dirty="0">
                <a:solidFill>
                  <a:schemeClr val="tx1"/>
                </a:solidFill>
              </a:rPr>
              <a:t>Evidence List</a:t>
            </a:r>
          </a:p>
        </p:txBody>
      </p:sp>
      <p:sp>
        <p:nvSpPr>
          <p:cNvPr id="3116" name="a"/>
          <p:cNvSpPr/>
          <p:nvPr/>
        </p:nvSpPr>
        <p:spPr>
          <a:xfrm>
            <a:off x="12134088" y="3977640"/>
            <a:ext cx="914" cy="182880"/>
          </a:xfrm>
          <a:custGeom>
            <a:avLst/>
            <a:gdLst/>
            <a:ahLst/>
            <a:cxnLst/>
            <a:rect l="0" t="0" r="r" b="b"/>
            <a:pathLst>
              <a:path w="914" h="182880" fill="none">
                <a:moveTo>
                  <a:pt x="0" y="0"/>
                </a:moveTo>
                <a:lnTo>
                  <a:pt x="0" y="182880"/>
                </a:lnTo>
              </a:path>
            </a:pathLst>
          </a:custGeom>
          <a:noFill/>
          <a:ln w="15875">
            <a:solidFill>
              <a:schemeClr val="tx1"/>
            </a:solidFill>
            <a:rou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117" name="Grounding Audit"/>
          <p:cNvSpPr/>
          <p:nvPr/>
        </p:nvSpPr>
        <p:spPr>
          <a:xfrm>
            <a:off x="9966960" y="4160520"/>
            <a:ext cx="4343400" cy="2011680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45720" tIns="45720" rIns="45720" bIns="45720" rtlCol="0" anchor="t">
            <a:noAutofit/>
          </a:bodyPr>
          <a:lstStyle/>
          <a:p>
            <a:pPr algn="ctr"/>
            <a:r>
              <a:rPr lang="en-US" sz="1500" b="1" i="0" dirty="0">
                <a:solidFill>
                  <a:schemeClr val="tx1"/>
                </a:solidFill>
              </a:rPr>
              <a:t>Grounding Audit  (2 gates + 3 checks)</a:t>
            </a:r>
          </a:p>
        </p:txBody>
      </p:sp>
      <p:sp>
        <p:nvSpPr>
          <p:cNvPr id="3118" name="Step 9"/>
          <p:cNvSpPr/>
          <p:nvPr/>
        </p:nvSpPr>
        <p:spPr>
          <a:xfrm>
            <a:off x="13990320" y="4206240"/>
            <a:ext cx="265176" cy="246888"/>
          </a:xfrm>
          <a:prstGeom prst="ellipse">
            <a:avLst/>
          </a:prstGeom>
          <a:noFill/>
          <a:ln w="12700">
            <a:solidFill>
              <a:schemeClr val="accent1">
                <a:lumMod val="50000"/>
              </a:schemeClr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300" b="0" i="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3119" name="ga inner"/>
          <p:cNvSpPr/>
          <p:nvPr/>
        </p:nvSpPr>
        <p:spPr>
          <a:xfrm>
            <a:off x="10058400" y="4526280"/>
            <a:ext cx="4160520" cy="155448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accent6">
                <a:lumMod val="75000"/>
              </a:schemeClr>
            </a:solidFill>
            <a:prstDash val="dash"/>
          </a:ln>
        </p:spPr>
        <p:txBody>
          <a:bodyPr wrap="square" lIns="45720" tIns="45720" rIns="45720" bIns="45720" rtlCol="0" anchor="t">
            <a:noAutofit/>
          </a:bodyPr>
          <a:lstStyle/>
          <a:p>
            <a:endParaRPr lang="en-US"/>
          </a:p>
        </p:txBody>
      </p:sp>
      <p:sp>
        <p:nvSpPr>
          <p:cNvPr id="3120" name="chain"/>
          <p:cNvSpPr/>
          <p:nvPr/>
        </p:nvSpPr>
        <p:spPr>
          <a:xfrm>
            <a:off x="10561320" y="5257800"/>
            <a:ext cx="3145536" cy="914"/>
          </a:xfrm>
          <a:custGeom>
            <a:avLst/>
            <a:gdLst/>
            <a:ahLst/>
            <a:cxnLst/>
            <a:rect l="0" t="0" r="r" b="b"/>
            <a:pathLst>
              <a:path w="3145536" h="914" fill="none">
                <a:moveTo>
                  <a:pt x="0" y="0"/>
                </a:moveTo>
                <a:lnTo>
                  <a:pt x="3145536" y="0"/>
                </a:lnTo>
              </a:path>
            </a:pathLst>
          </a:custGeom>
          <a:noFill/>
          <a:ln w="25400">
            <a:solidFill>
              <a:schemeClr val="tx1">
                <a:lumMod val="50000"/>
                <a:lumOff val="50000"/>
              </a:schemeClr>
            </a:solidFill>
            <a:round/>
          </a:ln>
        </p:spPr>
        <p:txBody>
          <a:bodyPr/>
          <a:lstStyle/>
          <a:p>
            <a:endParaRPr lang="en-US"/>
          </a:p>
        </p:txBody>
      </p:sp>
      <p:grpSp>
        <p:nvGrpSpPr>
          <p:cNvPr id="3121" name="Group 730">
            <a:extLst>
              <a:ext uri="{FF2B5EF4-FFF2-40B4-BE49-F238E27FC236}">
                <a16:creationId xmlns:a16="http://schemas.microsoft.com/office/drawing/2014/main" id="{1E6D6C07-16EF-BF6F-079D-A117754FEF5B}"/>
              </a:ext>
            </a:extLst>
          </p:cNvPr>
          <p:cNvGrpSpPr/>
          <p:nvPr/>
        </p:nvGrpSpPr>
        <p:grpSpPr>
          <a:xfrm>
            <a:off x="10415016" y="5111496"/>
            <a:ext cx="292608" cy="285968"/>
            <a:chOff x="8248731" y="3566983"/>
            <a:chExt cx="255366" cy="249571"/>
          </a:xfrm>
        </p:grpSpPr>
        <p:sp>
          <p:nvSpPr>
            <p:cNvPr id="3122" name="Oval 752">
              <a:extLst>
                <a:ext uri="{FF2B5EF4-FFF2-40B4-BE49-F238E27FC236}">
                  <a16:creationId xmlns:a16="http://schemas.microsoft.com/office/drawing/2014/main" id="{E9C5062D-60D9-F290-8009-1DDCC9D5817F}"/>
                </a:ext>
              </a:extLst>
            </p:cNvPr>
            <p:cNvSpPr/>
            <p:nvPr/>
          </p:nvSpPr>
          <p:spPr>
            <a:xfrm>
              <a:off x="8248731" y="3566983"/>
              <a:ext cx="255366" cy="249571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pic>
          <p:nvPicPr>
            <p:cNvPr id="3123" name="Graphic 753" descr="Checkmark">
              <a:extLst>
                <a:ext uri="{FF2B5EF4-FFF2-40B4-BE49-F238E27FC236}">
                  <a16:creationId xmlns:a16="http://schemas.microsoft.com/office/drawing/2014/main" id="{D26681F3-40DA-2C2C-9B6D-E8DA48BF221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p:blipFill>
          <p:spPr>
            <a:xfrm>
              <a:off x="8295289" y="3604717"/>
              <a:ext cx="175003" cy="175003"/>
            </a:xfrm>
            <a:prstGeom prst="rect">
              <a:avLst/>
            </a:prstGeom>
          </p:spPr>
        </p:pic>
      </p:grpSp>
      <p:sp>
        <p:nvSpPr>
          <p:cNvPr id="3124" name="H1"/>
          <p:cNvSpPr txBox="1"/>
          <p:nvPr/>
        </p:nvSpPr>
        <p:spPr>
          <a:xfrm>
            <a:off x="9994392" y="4572000"/>
            <a:ext cx="1133856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ctr"/>
            <a:r>
              <a:rPr lang="en-US" sz="1000" b="1" i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S1</a:t>
            </a:r>
          </a:p>
          <a:p>
            <a:pPr algn="ctr"/>
            <a:r>
              <a:rPr lang="en-US" sz="1050" b="1" i="0" dirty="0">
                <a:solidFill>
                  <a:schemeClr val="tx1"/>
                </a:solidFill>
              </a:rPr>
              <a:t>Label Consistency</a:t>
            </a:r>
          </a:p>
        </p:txBody>
      </p:sp>
      <p:grpSp>
        <p:nvGrpSpPr>
          <p:cNvPr id="3125" name="Group 730">
            <a:extLst>
              <a:ext uri="{FF2B5EF4-FFF2-40B4-BE49-F238E27FC236}">
                <a16:creationId xmlns:a16="http://schemas.microsoft.com/office/drawing/2014/main" id="{1E6D6C07-16EF-BF6F-079D-A117754FEF5B}"/>
              </a:ext>
            </a:extLst>
          </p:cNvPr>
          <p:cNvGrpSpPr/>
          <p:nvPr/>
        </p:nvGrpSpPr>
        <p:grpSpPr>
          <a:xfrm>
            <a:off x="11201400" y="5111496"/>
            <a:ext cx="292608" cy="285968"/>
            <a:chOff x="8248731" y="3566983"/>
            <a:chExt cx="255366" cy="249571"/>
          </a:xfrm>
        </p:grpSpPr>
        <p:sp>
          <p:nvSpPr>
            <p:cNvPr id="3126" name="Oval 752">
              <a:extLst>
                <a:ext uri="{FF2B5EF4-FFF2-40B4-BE49-F238E27FC236}">
                  <a16:creationId xmlns:a16="http://schemas.microsoft.com/office/drawing/2014/main" id="{E9C5062D-60D9-F290-8009-1DDCC9D5817F}"/>
                </a:ext>
              </a:extLst>
            </p:cNvPr>
            <p:cNvSpPr/>
            <p:nvPr/>
          </p:nvSpPr>
          <p:spPr>
            <a:xfrm>
              <a:off x="8248731" y="3566983"/>
              <a:ext cx="255366" cy="249571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pic>
          <p:nvPicPr>
            <p:cNvPr id="3127" name="Graphic 753" descr="Checkmark">
              <a:extLst>
                <a:ext uri="{FF2B5EF4-FFF2-40B4-BE49-F238E27FC236}">
                  <a16:creationId xmlns:a16="http://schemas.microsoft.com/office/drawing/2014/main" id="{D26681F3-40DA-2C2C-9B6D-E8DA48BF221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p:blipFill>
          <p:spPr>
            <a:xfrm>
              <a:off x="8295289" y="3604717"/>
              <a:ext cx="175003" cy="175003"/>
            </a:xfrm>
            <a:prstGeom prst="rect">
              <a:avLst/>
            </a:prstGeom>
          </p:spPr>
        </p:pic>
      </p:grpSp>
      <p:sp>
        <p:nvSpPr>
          <p:cNvPr id="3128" name="H2"/>
          <p:cNvSpPr txBox="1"/>
          <p:nvPr/>
        </p:nvSpPr>
        <p:spPr>
          <a:xfrm>
            <a:off x="10780776" y="5486400"/>
            <a:ext cx="1133856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/>
            <a:r>
              <a:rPr lang="en-US" sz="1000" b="1" i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S2</a:t>
            </a:r>
          </a:p>
          <a:p>
            <a:pPr algn="ctr"/>
            <a:r>
              <a:rPr lang="en-US" sz="1050" b="1" i="0" dirty="0">
                <a:solidFill>
                  <a:schemeClr val="tx1"/>
                </a:solidFill>
              </a:rPr>
              <a:t>Confidence Range</a:t>
            </a:r>
          </a:p>
        </p:txBody>
      </p:sp>
      <p:grpSp>
        <p:nvGrpSpPr>
          <p:cNvPr id="3129" name="Group 730">
            <a:extLst>
              <a:ext uri="{FF2B5EF4-FFF2-40B4-BE49-F238E27FC236}">
                <a16:creationId xmlns:a16="http://schemas.microsoft.com/office/drawing/2014/main" id="{1E6D6C07-16EF-BF6F-079D-A117754FEF5B}"/>
              </a:ext>
            </a:extLst>
          </p:cNvPr>
          <p:cNvGrpSpPr/>
          <p:nvPr/>
        </p:nvGrpSpPr>
        <p:grpSpPr>
          <a:xfrm>
            <a:off x="11987784" y="5111496"/>
            <a:ext cx="292608" cy="285968"/>
            <a:chOff x="8248731" y="3566983"/>
            <a:chExt cx="255366" cy="249571"/>
          </a:xfrm>
        </p:grpSpPr>
        <p:sp>
          <p:nvSpPr>
            <p:cNvPr id="3130" name="Oval 752">
              <a:extLst>
                <a:ext uri="{FF2B5EF4-FFF2-40B4-BE49-F238E27FC236}">
                  <a16:creationId xmlns:a16="http://schemas.microsoft.com/office/drawing/2014/main" id="{E9C5062D-60D9-F290-8009-1DDCC9D5817F}"/>
                </a:ext>
              </a:extLst>
            </p:cNvPr>
            <p:cNvSpPr/>
            <p:nvPr/>
          </p:nvSpPr>
          <p:spPr>
            <a:xfrm>
              <a:off x="8248731" y="3566983"/>
              <a:ext cx="255366" cy="249571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pic>
          <p:nvPicPr>
            <p:cNvPr id="3131" name="Graphic 753" descr="Checkmark">
              <a:extLst>
                <a:ext uri="{FF2B5EF4-FFF2-40B4-BE49-F238E27FC236}">
                  <a16:creationId xmlns:a16="http://schemas.microsoft.com/office/drawing/2014/main" id="{D26681F3-40DA-2C2C-9B6D-E8DA48BF221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p:blipFill>
          <p:spPr>
            <a:xfrm>
              <a:off x="8295289" y="3604717"/>
              <a:ext cx="175003" cy="175003"/>
            </a:xfrm>
            <a:prstGeom prst="rect">
              <a:avLst/>
            </a:prstGeom>
          </p:spPr>
        </p:pic>
      </p:grpSp>
      <p:sp>
        <p:nvSpPr>
          <p:cNvPr id="3132" name="H3"/>
          <p:cNvSpPr txBox="1"/>
          <p:nvPr/>
        </p:nvSpPr>
        <p:spPr>
          <a:xfrm>
            <a:off x="11567160" y="4572000"/>
            <a:ext cx="1133856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ctr"/>
            <a:r>
              <a:rPr lang="en-US" sz="1000" b="1" i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H1</a:t>
            </a:r>
          </a:p>
          <a:p>
            <a:pPr algn="ctr"/>
            <a:r>
              <a:rPr lang="en-US" sz="1050" b="1" i="0" dirty="0">
                <a:solidFill>
                  <a:schemeClr val="tx1"/>
                </a:solidFill>
              </a:rPr>
              <a:t>Feature Grounding</a:t>
            </a:r>
          </a:p>
        </p:txBody>
      </p:sp>
      <p:grpSp>
        <p:nvGrpSpPr>
          <p:cNvPr id="3133" name="Group 730">
            <a:extLst>
              <a:ext uri="{FF2B5EF4-FFF2-40B4-BE49-F238E27FC236}">
                <a16:creationId xmlns:a16="http://schemas.microsoft.com/office/drawing/2014/main" id="{1E6D6C07-16EF-BF6F-079D-A117754FEF5B}"/>
              </a:ext>
            </a:extLst>
          </p:cNvPr>
          <p:cNvGrpSpPr/>
          <p:nvPr/>
        </p:nvGrpSpPr>
        <p:grpSpPr>
          <a:xfrm>
            <a:off x="12774168" y="5111496"/>
            <a:ext cx="292608" cy="285968"/>
            <a:chOff x="8248731" y="3566983"/>
            <a:chExt cx="255366" cy="249571"/>
          </a:xfrm>
        </p:grpSpPr>
        <p:sp>
          <p:nvSpPr>
            <p:cNvPr id="3134" name="Oval 752">
              <a:extLst>
                <a:ext uri="{FF2B5EF4-FFF2-40B4-BE49-F238E27FC236}">
                  <a16:creationId xmlns:a16="http://schemas.microsoft.com/office/drawing/2014/main" id="{E9C5062D-60D9-F290-8009-1DDCC9D5817F}"/>
                </a:ext>
              </a:extLst>
            </p:cNvPr>
            <p:cNvSpPr/>
            <p:nvPr/>
          </p:nvSpPr>
          <p:spPr>
            <a:xfrm>
              <a:off x="8248731" y="3566983"/>
              <a:ext cx="255366" cy="249571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pic>
          <p:nvPicPr>
            <p:cNvPr id="3135" name="Graphic 753" descr="Checkmark">
              <a:extLst>
                <a:ext uri="{FF2B5EF4-FFF2-40B4-BE49-F238E27FC236}">
                  <a16:creationId xmlns:a16="http://schemas.microsoft.com/office/drawing/2014/main" id="{D26681F3-40DA-2C2C-9B6D-E8DA48BF221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p:blipFill>
          <p:spPr>
            <a:xfrm>
              <a:off x="8295289" y="3604717"/>
              <a:ext cx="175003" cy="175003"/>
            </a:xfrm>
            <a:prstGeom prst="rect">
              <a:avLst/>
            </a:prstGeom>
          </p:spPr>
        </p:pic>
      </p:grpSp>
      <p:sp>
        <p:nvSpPr>
          <p:cNvPr id="3136" name="H4"/>
          <p:cNvSpPr txBox="1"/>
          <p:nvPr/>
        </p:nvSpPr>
        <p:spPr>
          <a:xfrm>
            <a:off x="12353544" y="5486400"/>
            <a:ext cx="1133856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/>
            <a:r>
              <a:rPr lang="en-US" sz="1000" b="1" i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H2</a:t>
            </a:r>
          </a:p>
          <a:p>
            <a:pPr algn="ctr"/>
            <a:r>
              <a:rPr lang="en-US" sz="1050" b="1" i="0" dirty="0">
                <a:solidFill>
                  <a:schemeClr val="tx1"/>
                </a:solidFill>
              </a:rPr>
              <a:t>Numeric Faithfulness</a:t>
            </a:r>
          </a:p>
        </p:txBody>
      </p:sp>
      <p:grpSp>
        <p:nvGrpSpPr>
          <p:cNvPr id="3137" name="Group 730">
            <a:extLst>
              <a:ext uri="{FF2B5EF4-FFF2-40B4-BE49-F238E27FC236}">
                <a16:creationId xmlns:a16="http://schemas.microsoft.com/office/drawing/2014/main" id="{1E6D6C07-16EF-BF6F-079D-A117754FEF5B}"/>
              </a:ext>
            </a:extLst>
          </p:cNvPr>
          <p:cNvGrpSpPr/>
          <p:nvPr/>
        </p:nvGrpSpPr>
        <p:grpSpPr>
          <a:xfrm>
            <a:off x="13560552" y="5111496"/>
            <a:ext cx="292608" cy="285968"/>
            <a:chOff x="8248731" y="3566983"/>
            <a:chExt cx="255366" cy="249571"/>
          </a:xfrm>
        </p:grpSpPr>
        <p:sp>
          <p:nvSpPr>
            <p:cNvPr id="3138" name="Oval 752">
              <a:extLst>
                <a:ext uri="{FF2B5EF4-FFF2-40B4-BE49-F238E27FC236}">
                  <a16:creationId xmlns:a16="http://schemas.microsoft.com/office/drawing/2014/main" id="{E9C5062D-60D9-F290-8009-1DDCC9D5817F}"/>
                </a:ext>
              </a:extLst>
            </p:cNvPr>
            <p:cNvSpPr/>
            <p:nvPr/>
          </p:nvSpPr>
          <p:spPr>
            <a:xfrm>
              <a:off x="8248731" y="3566983"/>
              <a:ext cx="255366" cy="249571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pic>
          <p:nvPicPr>
            <p:cNvPr id="3139" name="Graphic 753" descr="Checkmark">
              <a:extLst>
                <a:ext uri="{FF2B5EF4-FFF2-40B4-BE49-F238E27FC236}">
                  <a16:creationId xmlns:a16="http://schemas.microsoft.com/office/drawing/2014/main" id="{D26681F3-40DA-2C2C-9B6D-E8DA48BF221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p:blipFill>
          <p:spPr>
            <a:xfrm>
              <a:off x="8295289" y="3604717"/>
              <a:ext cx="175003" cy="175003"/>
            </a:xfrm>
            <a:prstGeom prst="rect">
              <a:avLst/>
            </a:prstGeom>
          </p:spPr>
        </p:pic>
      </p:grpSp>
      <p:sp>
        <p:nvSpPr>
          <p:cNvPr id="3140" name="H5"/>
          <p:cNvSpPr txBox="1"/>
          <p:nvPr/>
        </p:nvSpPr>
        <p:spPr>
          <a:xfrm>
            <a:off x="13139928" y="4572000"/>
            <a:ext cx="1133856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ctr"/>
            <a:r>
              <a:rPr lang="en-US" sz="1000" b="1" i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H3</a:t>
            </a:r>
          </a:p>
          <a:p>
            <a:pPr algn="ctr"/>
            <a:r>
              <a:rPr lang="en-US" sz="1050" b="1" i="0" dirty="0">
                <a:solidFill>
                  <a:schemeClr val="tx1"/>
                </a:solidFill>
              </a:rPr>
              <a:t>Precedent-Label Check</a:t>
            </a:r>
          </a:p>
        </p:txBody>
      </p:sp>
      <p:sp>
        <p:nvSpPr>
          <p:cNvPr id="3141" name="reference"/>
          <p:cNvSpPr/>
          <p:nvPr/>
        </p:nvSpPr>
        <p:spPr>
          <a:xfrm>
            <a:off x="9317736" y="5806440"/>
            <a:ext cx="731520" cy="914"/>
          </a:xfrm>
          <a:custGeom>
            <a:avLst/>
            <a:gdLst/>
            <a:ahLst/>
            <a:cxnLst/>
            <a:rect l="0" t="0" r="r" b="b"/>
            <a:pathLst>
              <a:path w="731520" h="914" fill="none">
                <a:moveTo>
                  <a:pt x="0" y="0"/>
                </a:moveTo>
                <a:lnTo>
                  <a:pt x="731520" y="0"/>
                </a:lnTo>
              </a:path>
            </a:pathLst>
          </a:custGeom>
          <a:noFill/>
          <a:ln w="38100">
            <a:solidFill>
              <a:srgbClr val="2E8B70"/>
            </a:solidFill>
            <a:rou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142" name="reference label"/>
          <p:cNvSpPr txBox="1"/>
          <p:nvPr/>
        </p:nvSpPr>
        <p:spPr>
          <a:xfrm>
            <a:off x="9340596" y="5599176"/>
            <a:ext cx="6858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lang="en-US" sz="1100" b="1" i="1" dirty="0">
                <a:solidFill>
                  <a:schemeClr val="accent6">
                    <a:lumMod val="50000"/>
                  </a:schemeClr>
                </a:solidFill>
              </a:rPr>
              <a:t>Reference</a:t>
            </a:r>
          </a:p>
        </p:txBody>
      </p:sp>
      <p:sp>
        <p:nvSpPr>
          <p:cNvPr id="3143" name="grounded"/>
          <p:cNvSpPr/>
          <p:nvPr/>
        </p:nvSpPr>
        <p:spPr>
          <a:xfrm>
            <a:off x="11155680" y="6172200"/>
            <a:ext cx="914" cy="274320"/>
          </a:xfrm>
          <a:custGeom>
            <a:avLst/>
            <a:gdLst/>
            <a:ahLst/>
            <a:cxnLst/>
            <a:rect l="0" t="0" r="r" b="b"/>
            <a:pathLst>
              <a:path w="914" h="274320" fill="none">
                <a:moveTo>
                  <a:pt x="0" y="0"/>
                </a:moveTo>
                <a:lnTo>
                  <a:pt x="0" y="274320"/>
                </a:lnTo>
              </a:path>
            </a:pathLst>
          </a:custGeom>
          <a:noFill/>
          <a:ln w="15875">
            <a:solidFill>
              <a:schemeClr val="tx1"/>
            </a:solidFill>
            <a:rou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144" name="grounded label"/>
          <p:cNvSpPr txBox="1"/>
          <p:nvPr/>
        </p:nvSpPr>
        <p:spPr>
          <a:xfrm>
            <a:off x="11219688" y="6199632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lang="en-US" sz="1100" b="1" i="1" dirty="0">
                <a:solidFill>
                  <a:schemeClr val="tx1"/>
                </a:solidFill>
              </a:rPr>
              <a:t>Grounded</a:t>
            </a:r>
          </a:p>
        </p:txBody>
      </p:sp>
      <p:sp>
        <p:nvSpPr>
          <p:cNvPr id="3145" name="withheld"/>
          <p:cNvSpPr/>
          <p:nvPr/>
        </p:nvSpPr>
        <p:spPr>
          <a:xfrm>
            <a:off x="13395960" y="6172200"/>
            <a:ext cx="914" cy="274320"/>
          </a:xfrm>
          <a:custGeom>
            <a:avLst/>
            <a:gdLst/>
            <a:ahLst/>
            <a:cxnLst/>
            <a:rect l="0" t="0" r="r" b="b"/>
            <a:pathLst>
              <a:path w="914" h="274320" fill="none">
                <a:moveTo>
                  <a:pt x="0" y="0"/>
                </a:moveTo>
                <a:lnTo>
                  <a:pt x="0" y="274320"/>
                </a:lnTo>
              </a:path>
            </a:pathLst>
          </a:custGeom>
          <a:noFill/>
          <a:ln w="15875">
            <a:solidFill>
              <a:schemeClr val="tx1"/>
            </a:solidFill>
            <a:rou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146" name="withheld label"/>
          <p:cNvSpPr txBox="1"/>
          <p:nvPr/>
        </p:nvSpPr>
        <p:spPr>
          <a:xfrm>
            <a:off x="11887200" y="6199632"/>
            <a:ext cx="14630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/>
            <a:r>
              <a:rPr lang="en-US" sz="1100" b="1" i="1" dirty="0">
                <a:solidFill>
                  <a:schemeClr val="bg2">
                    <a:lumMod val="10000"/>
                  </a:schemeClr>
                </a:solidFill>
              </a:rPr>
              <a:t>Explanation Withheld</a:t>
            </a:r>
          </a:p>
        </p:txBody>
      </p:sp>
      <p:sp>
        <p:nvSpPr>
          <p:cNvPr id="3147" name="Verified Explanation"/>
          <p:cNvSpPr/>
          <p:nvPr/>
        </p:nvSpPr>
        <p:spPr>
          <a:xfrm>
            <a:off x="9966960" y="6446520"/>
            <a:ext cx="2377440" cy="73152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45720" tIns="45720" rIns="45720" bIns="45720" rtlCol="0" anchor="t">
            <a:noAutofit/>
          </a:bodyPr>
          <a:lstStyle/>
          <a:p>
            <a:endParaRPr lang="en-US"/>
          </a:p>
        </p:txBody>
      </p:sp>
      <p:sp>
        <p:nvSpPr>
          <p:cNvPr id="3148" name="ve"/>
          <p:cNvSpPr txBox="1"/>
          <p:nvPr/>
        </p:nvSpPr>
        <p:spPr>
          <a:xfrm>
            <a:off x="10469880" y="6446520"/>
            <a:ext cx="155448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/>
            <a:r>
              <a:rPr lang="en-US" sz="1400" b="1" i="0" dirty="0">
                <a:solidFill>
                  <a:schemeClr val="tx1"/>
                </a:solidFill>
              </a:rPr>
              <a:t>Verified Explanation</a:t>
            </a:r>
          </a:p>
        </p:txBody>
      </p:sp>
      <p:grpSp>
        <p:nvGrpSpPr>
          <p:cNvPr id="3149" name="Group 730">
            <a:extLst>
              <a:ext uri="{FF2B5EF4-FFF2-40B4-BE49-F238E27FC236}">
                <a16:creationId xmlns:a16="http://schemas.microsoft.com/office/drawing/2014/main" id="{1E6D6C07-16EF-BF6F-079D-A117754FEF5B}"/>
              </a:ext>
            </a:extLst>
          </p:cNvPr>
          <p:cNvGrpSpPr/>
          <p:nvPr/>
        </p:nvGrpSpPr>
        <p:grpSpPr>
          <a:xfrm>
            <a:off x="10058400" y="6665976"/>
            <a:ext cx="292608" cy="285968"/>
            <a:chOff x="8248731" y="3566983"/>
            <a:chExt cx="255366" cy="249571"/>
          </a:xfrm>
        </p:grpSpPr>
        <p:sp>
          <p:nvSpPr>
            <p:cNvPr id="3150" name="Oval 752">
              <a:extLst>
                <a:ext uri="{FF2B5EF4-FFF2-40B4-BE49-F238E27FC236}">
                  <a16:creationId xmlns:a16="http://schemas.microsoft.com/office/drawing/2014/main" id="{E9C5062D-60D9-F290-8009-1DDCC9D5817F}"/>
                </a:ext>
              </a:extLst>
            </p:cNvPr>
            <p:cNvSpPr/>
            <p:nvPr/>
          </p:nvSpPr>
          <p:spPr>
            <a:xfrm>
              <a:off x="8248731" y="3566983"/>
              <a:ext cx="255366" cy="249571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pic>
          <p:nvPicPr>
            <p:cNvPr id="3151" name="Graphic 753" descr="Checkmark">
              <a:extLst>
                <a:ext uri="{FF2B5EF4-FFF2-40B4-BE49-F238E27FC236}">
                  <a16:creationId xmlns:a16="http://schemas.microsoft.com/office/drawing/2014/main" id="{D26681F3-40DA-2C2C-9B6D-E8DA48BF221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p:blipFill>
          <p:spPr>
            <a:xfrm>
              <a:off x="8295289" y="3604717"/>
              <a:ext cx="175003" cy="175003"/>
            </a:xfrm>
            <a:prstGeom prst="rect">
              <a:avLst/>
            </a:prstGeom>
          </p:spPr>
        </p:pic>
      </p:grpSp>
      <p:sp>
        <p:nvSpPr>
          <p:cNvPr id="3152" name="Step 10"/>
          <p:cNvSpPr/>
          <p:nvPr/>
        </p:nvSpPr>
        <p:spPr>
          <a:xfrm>
            <a:off x="12024360" y="6492240"/>
            <a:ext cx="265176" cy="246888"/>
          </a:xfrm>
          <a:prstGeom prst="ellipse">
            <a:avLst/>
          </a:prstGeom>
          <a:noFill/>
          <a:ln w="12700">
            <a:solidFill>
              <a:schemeClr val="accent1">
                <a:lumMod val="50000"/>
              </a:schemeClr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300" b="0" i="0" dirty="0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3153" name="a"/>
          <p:cNvSpPr/>
          <p:nvPr/>
        </p:nvSpPr>
        <p:spPr>
          <a:xfrm>
            <a:off x="11155680" y="7178040"/>
            <a:ext cx="914" cy="182880"/>
          </a:xfrm>
          <a:custGeom>
            <a:avLst/>
            <a:gdLst/>
            <a:ahLst/>
            <a:cxnLst/>
            <a:rect l="0" t="0" r="r" b="b"/>
            <a:pathLst>
              <a:path w="914" h="182880" fill="none">
                <a:moveTo>
                  <a:pt x="0" y="0"/>
                </a:moveTo>
                <a:lnTo>
                  <a:pt x="0" y="182880"/>
                </a:lnTo>
              </a:path>
            </a:pathLst>
          </a:custGeom>
          <a:noFill/>
          <a:ln w="15875">
            <a:solidFill>
              <a:schemeClr val="tx1"/>
            </a:solidFill>
            <a:rou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154" name="Security Analyst"/>
          <p:cNvSpPr/>
          <p:nvPr/>
        </p:nvSpPr>
        <p:spPr>
          <a:xfrm>
            <a:off x="9966960" y="7360920"/>
            <a:ext cx="2377440" cy="621792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45720" tIns="45720" rIns="45720" bIns="45720" rtlCol="0" anchor="t">
            <a:noAutofit/>
          </a:bodyPr>
          <a:lstStyle/>
          <a:p>
            <a:endParaRPr lang="en-US"/>
          </a:p>
        </p:txBody>
      </p:sp>
      <p:sp>
        <p:nvSpPr>
          <p:cNvPr id="3155" name="sa"/>
          <p:cNvSpPr txBox="1"/>
          <p:nvPr/>
        </p:nvSpPr>
        <p:spPr>
          <a:xfrm>
            <a:off x="10469880" y="7360920"/>
            <a:ext cx="1737360" cy="6217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/>
            <a:r>
              <a:rPr lang="en-US" sz="1400" b="1" i="0" dirty="0">
                <a:solidFill>
                  <a:schemeClr val="tx1"/>
                </a:solidFill>
              </a:rPr>
              <a:t>Security Analyst</a:t>
            </a:r>
          </a:p>
        </p:txBody>
      </p:sp>
      <p:pic>
        <p:nvPicPr>
          <p:cNvPr id="3156" name="Graphic 719" descr="Eye">
            <a:extLst>
              <a:ext uri="{FF2B5EF4-FFF2-40B4-BE49-F238E27FC236}">
                <a16:creationId xmlns:a16="http://schemas.microsoft.com/office/drawing/2014/main" id="{82FB9A72-E5C5-CC70-F14C-B230791F707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10058400" y="7507224"/>
            <a:ext cx="329184" cy="329184"/>
          </a:xfrm>
          <a:prstGeom prst="rect">
            <a:avLst/>
          </a:prstGeom>
        </p:spPr>
      </p:pic>
      <p:sp>
        <p:nvSpPr>
          <p:cNvPr id="3157" name="Analyst Review"/>
          <p:cNvSpPr/>
          <p:nvPr/>
        </p:nvSpPr>
        <p:spPr>
          <a:xfrm>
            <a:off x="12481560" y="6446520"/>
            <a:ext cx="1828800" cy="1536192"/>
          </a:xfrm>
          <a:prstGeom prst="roundRect">
            <a:avLst/>
          </a:prstGeom>
          <a:solidFill>
            <a:schemeClr val="bg2">
              <a:lumMod val="75000"/>
            </a:schemeClr>
          </a:solidFill>
          <a:ln w="12700">
            <a:solidFill>
              <a:schemeClr val="tx1"/>
            </a:solidFill>
          </a:ln>
        </p:spPr>
        <p:txBody>
          <a:bodyPr wrap="square" lIns="137160" tIns="137160" rIns="137160" bIns="137160" rtlCol="0" anchor="b">
            <a:noAutofit/>
          </a:bodyPr>
          <a:lstStyle/>
          <a:p>
            <a:pPr algn="ctr"/>
            <a:r>
              <a:rPr lang="en-US" sz="1500" b="1" i="0" dirty="0">
                <a:solidFill>
                  <a:schemeClr val="tx1"/>
                </a:solidFill>
              </a:rPr>
              <a:t>Analyst Review</a:t>
            </a:r>
          </a:p>
        </p:txBody>
      </p:sp>
      <p:pic>
        <p:nvPicPr>
          <p:cNvPr id="3158" name="Graphic 413" descr="Warning">
            <a:extLst>
              <a:ext uri="{FF2B5EF4-FFF2-40B4-BE49-F238E27FC236}">
                <a16:creationId xmlns:a16="http://schemas.microsoft.com/office/drawing/2014/main" id="{9D475C12-8BA5-D631-9D2D-A8AE6BAA70C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13194792" y="6675120"/>
            <a:ext cx="402336" cy="402336"/>
          </a:xfrm>
          <a:prstGeom prst="rect">
            <a:avLst/>
          </a:prstGeom>
        </p:spPr>
      </p:pic>
      <p:sp>
        <p:nvSpPr>
          <p:cNvPr id="3159" name="Text-Quality Metrics"/>
          <p:cNvSpPr/>
          <p:nvPr/>
        </p:nvSpPr>
        <p:spPr>
          <a:xfrm>
            <a:off x="9966960" y="8156448"/>
            <a:ext cx="4343400" cy="868680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36576" tIns="36576" rIns="36576" bIns="36576" rtlCol="0" anchor="t">
            <a:noAutofit/>
          </a:bodyPr>
          <a:lstStyle/>
          <a:p>
            <a:pPr algn="ctr"/>
            <a:r>
              <a:rPr lang="en-US" sz="1300" b="1" i="0" dirty="0">
                <a:solidFill>
                  <a:schemeClr val="tx1"/>
                </a:solidFill>
              </a:rPr>
              <a:t>Text-Quality Metrics  (reported, not used for gating)</a:t>
            </a:r>
          </a:p>
        </p:txBody>
      </p:sp>
      <p:sp>
        <p:nvSpPr>
          <p:cNvPr id="3160" name="Step 11"/>
          <p:cNvSpPr/>
          <p:nvPr/>
        </p:nvSpPr>
        <p:spPr>
          <a:xfrm>
            <a:off x="13990320" y="8183880"/>
            <a:ext cx="265176" cy="246888"/>
          </a:xfrm>
          <a:prstGeom prst="ellipse">
            <a:avLst/>
          </a:prstGeom>
          <a:noFill/>
          <a:ln w="12700">
            <a:solidFill>
              <a:schemeClr val="accent1">
                <a:lumMod val="50000"/>
              </a:schemeClr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300" b="0" i="0" dirty="0">
                <a:solidFill>
                  <a:schemeClr val="tx1"/>
                </a:solidFill>
              </a:rPr>
              <a:t>11</a:t>
            </a:r>
          </a:p>
        </p:txBody>
      </p:sp>
      <p:pic>
        <p:nvPicPr>
          <p:cNvPr id="3161" name="Graphic 775" descr="Document">
            <a:extLst>
              <a:ext uri="{FF2B5EF4-FFF2-40B4-BE49-F238E27FC236}">
                <a16:creationId xmlns:a16="http://schemas.microsoft.com/office/drawing/2014/main" id="{5EA111FF-A6C2-89E7-DBCE-77FA2C670C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10104120" y="8531352"/>
            <a:ext cx="292608" cy="292608"/>
          </a:xfrm>
          <a:prstGeom prst="rect">
            <a:avLst/>
          </a:prstGeom>
        </p:spPr>
      </p:pic>
      <p:sp>
        <p:nvSpPr>
          <p:cNvPr id="3162" name="ROUGE-L"/>
          <p:cNvSpPr txBox="1"/>
          <p:nvPr/>
        </p:nvSpPr>
        <p:spPr>
          <a:xfrm>
            <a:off x="10442448" y="8513064"/>
            <a:ext cx="73152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/>
            <a:r>
              <a:rPr lang="en-US" sz="1100" b="1" i="0" dirty="0">
                <a:solidFill>
                  <a:schemeClr val="tx1"/>
                </a:solidFill>
              </a:rPr>
              <a:t>ROUGE-L</a:t>
            </a:r>
          </a:p>
        </p:txBody>
      </p:sp>
      <p:pic>
        <p:nvPicPr>
          <p:cNvPr id="3163" name="Graphic 778" descr="Pie chart">
            <a:extLst>
              <a:ext uri="{FF2B5EF4-FFF2-40B4-BE49-F238E27FC236}">
                <a16:creationId xmlns:a16="http://schemas.microsoft.com/office/drawing/2014/main" id="{2A8540F8-5050-BD46-6659-710C5415258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11155680" y="8531352"/>
            <a:ext cx="292608" cy="292608"/>
          </a:xfrm>
          <a:prstGeom prst="rect">
            <a:avLst/>
          </a:prstGeom>
        </p:spPr>
      </p:pic>
      <p:sp>
        <p:nvSpPr>
          <p:cNvPr id="3164" name="Self-BLEU"/>
          <p:cNvSpPr txBox="1"/>
          <p:nvPr/>
        </p:nvSpPr>
        <p:spPr>
          <a:xfrm>
            <a:off x="11494008" y="8513064"/>
            <a:ext cx="73152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/>
            <a:r>
              <a:rPr lang="en-US" sz="1100" b="1" i="0" dirty="0">
                <a:solidFill>
                  <a:schemeClr val="tx1"/>
                </a:solidFill>
              </a:rPr>
              <a:t>Self-BLEU</a:t>
            </a:r>
          </a:p>
        </p:txBody>
      </p:sp>
      <p:pic>
        <p:nvPicPr>
          <p:cNvPr id="3165" name="Graphic 776" descr="Network">
            <a:extLst>
              <a:ext uri="{FF2B5EF4-FFF2-40B4-BE49-F238E27FC236}">
                <a16:creationId xmlns:a16="http://schemas.microsoft.com/office/drawing/2014/main" id="{B632BD55-FCDF-F37D-5889-DDCD5EA62A0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12207240" y="8531352"/>
            <a:ext cx="292608" cy="292608"/>
          </a:xfrm>
          <a:prstGeom prst="rect">
            <a:avLst/>
          </a:prstGeom>
        </p:spPr>
      </p:pic>
      <p:sp>
        <p:nvSpPr>
          <p:cNvPr id="3166" name="BERTScore"/>
          <p:cNvSpPr txBox="1"/>
          <p:nvPr/>
        </p:nvSpPr>
        <p:spPr>
          <a:xfrm>
            <a:off x="12545568" y="8513064"/>
            <a:ext cx="73152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/>
            <a:r>
              <a:rPr lang="en-US" sz="1100" b="1" i="0" dirty="0">
                <a:solidFill>
                  <a:schemeClr val="tx1"/>
                </a:solidFill>
              </a:rPr>
              <a:t>BERTScore</a:t>
            </a:r>
          </a:p>
        </p:txBody>
      </p:sp>
      <p:pic>
        <p:nvPicPr>
          <p:cNvPr id="3167" name="Graphic 777" descr="Ruler">
            <a:extLst>
              <a:ext uri="{FF2B5EF4-FFF2-40B4-BE49-F238E27FC236}">
                <a16:creationId xmlns:a16="http://schemas.microsoft.com/office/drawing/2014/main" id="{6D2D606E-3023-241F-C280-1A4E5D3627A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13258800" y="8531352"/>
            <a:ext cx="292608" cy="292608"/>
          </a:xfrm>
          <a:prstGeom prst="rect">
            <a:avLst/>
          </a:prstGeom>
        </p:spPr>
      </p:pic>
      <p:sp>
        <p:nvSpPr>
          <p:cNvPr id="3168" name="Length"/>
          <p:cNvSpPr txBox="1"/>
          <p:nvPr/>
        </p:nvSpPr>
        <p:spPr>
          <a:xfrm>
            <a:off x="13597128" y="8513064"/>
            <a:ext cx="73152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/>
            <a:r>
              <a:rPr lang="en-US" sz="1100" b="1" i="0" dirty="0">
                <a:solidFill>
                  <a:schemeClr val="tx1"/>
                </a:solidFill>
              </a:rPr>
              <a:t>Length</a:t>
            </a:r>
          </a:p>
        </p:txBody>
      </p: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D88DD156-6807-3773-9234-7572A40546C8}"/>
              </a:ext>
            </a:extLst>
          </p:cNvPr>
          <p:cNvCxnSpPr>
            <a:cxnSpLocks/>
            <a:stCxn id="3023" idx="3"/>
            <a:endCxn id="3045" idx="1"/>
          </p:cNvCxnSpPr>
          <p:nvPr/>
        </p:nvCxnSpPr>
        <p:spPr>
          <a:xfrm flipV="1">
            <a:off x="4690872" y="1229868"/>
            <a:ext cx="1152144" cy="5248656"/>
          </a:xfrm>
          <a:prstGeom prst="bentConnector3">
            <a:avLst>
              <a:gd name="adj1" fmla="val 13241"/>
            </a:avLst>
          </a:prstGeom>
          <a:ln w="19050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311D505F-BDC6-59D7-7C01-349322EB7E58}"/>
              </a:ext>
            </a:extLst>
          </p:cNvPr>
          <p:cNvCxnSpPr>
            <a:cxnSpLocks/>
            <a:stCxn id="3045" idx="3"/>
          </p:cNvCxnSpPr>
          <p:nvPr/>
        </p:nvCxnSpPr>
        <p:spPr>
          <a:xfrm>
            <a:off x="8677656" y="1229868"/>
            <a:ext cx="283464" cy="1056132"/>
          </a:xfrm>
          <a:prstGeom prst="bentConnector2">
            <a:avLst/>
          </a:prstGeom>
          <a:ln w="19050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1455444A-469A-07E8-E58F-778E929D56F5}"/>
              </a:ext>
            </a:extLst>
          </p:cNvPr>
          <p:cNvCxnSpPr>
            <a:cxnSpLocks/>
            <a:stCxn id="3055" idx="3"/>
            <a:endCxn id="3089" idx="1"/>
          </p:cNvCxnSpPr>
          <p:nvPr/>
        </p:nvCxnSpPr>
        <p:spPr>
          <a:xfrm flipV="1">
            <a:off x="9326880" y="1289304"/>
            <a:ext cx="914400" cy="4128516"/>
          </a:xfrm>
          <a:prstGeom prst="bentConnector3">
            <a:avLst>
              <a:gd name="adj1" fmla="val 28333"/>
            </a:avLst>
          </a:prstGeom>
          <a:ln w="38100">
            <a:solidFill>
              <a:srgbClr val="2E8B7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6949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393</TotalTime>
  <Words>263</Words>
  <Application>Microsoft Office PowerPoint</Application>
  <PresentationFormat>Custom</PresentationFormat>
  <Paragraphs>96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82</cp:revision>
  <dcterms:created xsi:type="dcterms:W3CDTF">2026-06-24T11:02:39Z</dcterms:created>
  <dcterms:modified xsi:type="dcterms:W3CDTF">2026-10-03T12:57:23Z</dcterms:modified>
</cp:coreProperties>
</file>